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_rels/.rels" ContentType="application/vnd.openxmlformats-package.relationshi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_rels/presentation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media/image1.png" ContentType="image/png"/>
  <Override PartName="/ppt/media/image33.png" ContentType="image/png"/>
  <Override PartName="/ppt/media/image12.png" ContentType="image/png"/>
  <Override PartName="/ppt/media/image5.png" ContentType="image/png"/>
  <Override PartName="/ppt/media/image37.png" ContentType="image/png"/>
  <Override PartName="/ppt/media/image13.png" ContentType="image/png"/>
  <Override PartName="/ppt/media/image6.png" ContentType="image/png"/>
  <Override PartName="/ppt/media/image38.png" ContentType="image/png"/>
  <Override PartName="/ppt/media/image14.png" ContentType="image/png"/>
  <Override PartName="/ppt/media/image7.png" ContentType="image/png"/>
  <Override PartName="/ppt/media/image39.png" ContentType="image/png"/>
  <Override PartName="/ppt/media/image2.png" ContentType="image/png"/>
  <Override PartName="/ppt/media/image34.png" ContentType="image/png"/>
  <Override PartName="/ppt/media/image17.png" ContentType="image/png"/>
  <Override PartName="/ppt/media/image4.png" ContentType="image/png"/>
  <Override PartName="/ppt/media/image11.png" ContentType="image/png"/>
  <Override PartName="/ppt/media/image36.png" ContentType="image/png"/>
  <Override PartName="/ppt/media/image10.png" ContentType="image/png"/>
  <Override PartName="/ppt/media/image3.png" ContentType="image/png"/>
  <Override PartName="/ppt/media/image35.png" ContentType="image/png"/>
  <Override PartName="/ppt/media/image18.png" ContentType="image/png"/>
  <Override PartName="/ppt/media/image19.png" ContentType="image/png"/>
  <Override PartName="/ppt/media/image20.png" ContentType="image/png"/>
  <Override PartName="/ppt/media/image8.png" ContentType="image/png"/>
  <Override PartName="/ppt/media/image15.png" ContentType="image/png"/>
  <Override PartName="/ppt/media/image22.png" ContentType="image/png"/>
  <Override PartName="/ppt/media/image23.png" ContentType="image/png"/>
  <Override PartName="/ppt/media/image24.png" ContentType="image/png"/>
  <Override PartName="/ppt/media/image9.png" ContentType="image/png"/>
  <Override PartName="/ppt/media/image16.png" ContentType="image/png"/>
  <Override PartName="/ppt/media/image31.png" ContentType="image/png"/>
  <Override PartName="/ppt/media/image25.png" ContentType="image/png"/>
  <Override PartName="/ppt/media/image40.png" ContentType="image/png"/>
  <Override PartName="/ppt/media/image26.png" ContentType="image/png"/>
  <Override PartName="/ppt/media/image41.png" ContentType="image/png"/>
  <Override PartName="/ppt/media/image27.png" ContentType="image/png"/>
  <Override PartName="/ppt/media/image42.png" ContentType="image/png"/>
  <Override PartName="/ppt/media/image28.png" ContentType="image/png"/>
  <Override PartName="/ppt/media/image43.png" ContentType="image/png"/>
  <Override PartName="/ppt/media/image29.png" ContentType="image/png"/>
  <Override PartName="/ppt/media/image44.png" ContentType="image/png"/>
  <Override PartName="/ppt/media/image45.png" ContentType="image/png"/>
  <Override PartName="/ppt/media/image46.png" ContentType="image/png"/>
  <Override PartName="/ppt/media/image47.png" ContentType="image/png"/>
  <Override PartName="/ppt/media/image48.png" ContentType="image/png"/>
  <Override PartName="/ppt/media/image21.png" ContentType="image/png"/>
  <Override PartName="/ppt/media/image32.png" ContentType="image/png"/>
  <Override PartName="/ppt/media/image30.png" ContentType="image/png"/>
  <Override PartName="/ppt/media/image49.png" ContentType="image/png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4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s/_rels/slide15.xml.rels" ContentType="application/vnd.openxmlformats-package.relationships+xml"/>
  <Override PartName="/ppt/slides/_rels/slide14.xml.rels" ContentType="application/vnd.openxmlformats-package.relationships+xml"/>
  <Override PartName="/ppt/slides/_rels/slide13.xml.rels" ContentType="application/vnd.openxmlformats-package.relationships+xml"/>
  <Override PartName="/ppt/slides/_rels/slide9.xml.rels" ContentType="application/vnd.openxmlformats-package.relationships+xml"/>
  <Override PartName="/ppt/slides/_rels/slide12.xml.rels" ContentType="application/vnd.openxmlformats-package.relationships+xml"/>
  <Override PartName="/ppt/slides/_rels/slide8.xml.rels" ContentType="application/vnd.openxmlformats-package.relationships+xml"/>
  <Override PartName="/ppt/slides/_rels/slide11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7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rtl="0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B71CA0E-52ED-41B2-8399-6A16B1B7D30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88888"/>
                </a:solidFill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D9D2598-F4F3-4053-9053-9070E014FDE9}" type="slidenum">
              <a:rPr b="0" lang="en-US" sz="1200" strike="noStrike" u="none">
                <a:solidFill>
                  <a:srgbClr val="888888"/>
                </a:solidFill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Double-tap to edit the title text format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Double-tap to edit the outline text format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8.png"/><Relationship Id="rId7" Type="http://schemas.openxmlformats.org/officeDocument/2006/relationships/image" Target="../media/image18.png"/><Relationship Id="rId8" Type="http://schemas.openxmlformats.org/officeDocument/2006/relationships/image" Target="../media/image18.png"/><Relationship Id="rId9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0.png"/><Relationship Id="rId3" Type="http://schemas.openxmlformats.org/officeDocument/2006/relationships/image" Target="../media/image19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Relationship Id="rId9" Type="http://schemas.openxmlformats.org/officeDocument/2006/relationships/image" Target="../media/image26.png"/><Relationship Id="rId10" Type="http://schemas.openxmlformats.org/officeDocument/2006/relationships/image" Target="../media/image27.png"/><Relationship Id="rId11" Type="http://schemas.openxmlformats.org/officeDocument/2006/relationships/image" Target="../media/image28.png"/><Relationship Id="rId1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37.png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41.png"/><Relationship Id="rId2" Type="http://schemas.openxmlformats.org/officeDocument/2006/relationships/image" Target="../media/image42.png"/><Relationship Id="rId3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43.png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image" Target="../media/image46.png"/><Relationship Id="rId5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47.png"/><Relationship Id="rId2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48.png"/><Relationship Id="rId2" Type="http://schemas.openxmlformats.org/officeDocument/2006/relationships/image" Target="../media/image49.png"/><Relationship Id="rId3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84;p13"/>
          <p:cNvSpPr/>
          <p:nvPr/>
        </p:nvSpPr>
        <p:spPr>
          <a:xfrm>
            <a:off x="762120" y="4526640"/>
            <a:ext cx="10667520" cy="66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6" name="Google Shape;85;p13"/>
          <p:cNvSpPr/>
          <p:nvPr/>
        </p:nvSpPr>
        <p:spPr>
          <a:xfrm>
            <a:off x="762120" y="3939120"/>
            <a:ext cx="609120" cy="378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3320" bIns="1332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7" name="Google Shape;86;p13"/>
          <p:cNvSpPr/>
          <p:nvPr/>
        </p:nvSpPr>
        <p:spPr>
          <a:xfrm>
            <a:off x="594000" y="4302720"/>
            <a:ext cx="10667520" cy="936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pic>
        <p:nvPicPr>
          <p:cNvPr id="8" name="Google Shape;87;p13" descr="image.png"/>
          <p:cNvPicPr/>
          <p:nvPr/>
        </p:nvPicPr>
        <p:blipFill>
          <a:blip r:embed="rId1"/>
          <a:stretch/>
        </p:blipFill>
        <p:spPr>
          <a:xfrm>
            <a:off x="762120" y="609480"/>
            <a:ext cx="380520" cy="380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" name="Google Shape;88;p13" descr="image.png"/>
          <p:cNvPicPr/>
          <p:nvPr/>
        </p:nvPicPr>
        <p:blipFill>
          <a:blip r:embed="rId2"/>
          <a:stretch/>
        </p:blipFill>
        <p:spPr>
          <a:xfrm>
            <a:off x="833400" y="704880"/>
            <a:ext cx="237600" cy="19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" name="Google Shape;89;p13"/>
          <p:cNvSpPr/>
          <p:nvPr/>
        </p:nvSpPr>
        <p:spPr>
          <a:xfrm>
            <a:off x="9277200" y="719280"/>
            <a:ext cx="269028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4748b"/>
                </a:solidFill>
                <a:uFillTx/>
                <a:latin typeface="Inter"/>
                <a:ea typeface="Inter"/>
              </a:rPr>
              <a:t>AI | GENERATIVE AI | EDTECH</a:t>
            </a:r>
            <a:endParaRPr b="0" lang="en-US" sz="105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1" name="Google Shape;90;p13"/>
          <p:cNvSpPr/>
          <p:nvPr/>
        </p:nvSpPr>
        <p:spPr>
          <a:xfrm>
            <a:off x="762120" y="2367000"/>
            <a:ext cx="1142964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38bdf8"/>
                </a:solidFill>
                <a:uFillTx/>
                <a:latin typeface="Inter"/>
                <a:ea typeface="Inter"/>
              </a:rPr>
              <a:t>INTELLIGENT LEARNING PLATFORM</a:t>
            </a:r>
            <a:endParaRPr b="0" lang="en-US" sz="135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2" name="Google Shape;91;p13"/>
          <p:cNvSpPr/>
          <p:nvPr/>
        </p:nvSpPr>
        <p:spPr>
          <a:xfrm>
            <a:off x="762120" y="2719440"/>
            <a:ext cx="11429640" cy="8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0000"/>
              </a:lnSpc>
              <a:tabLst>
                <a:tab algn="l" pos="0"/>
              </a:tabLst>
            </a:pPr>
            <a:r>
              <a:rPr b="1" lang="en-US" sz="4800" strike="noStrike" u="none">
                <a:solidFill>
                  <a:srgbClr val="f8fafc"/>
                </a:solidFill>
                <a:uFillTx/>
                <a:latin typeface="Plus Jakarta Sans"/>
                <a:ea typeface="Plus Jakarta Sans"/>
              </a:rPr>
              <a:t>EDUGENIE</a:t>
            </a:r>
            <a:endParaRPr b="0" lang="en-US" sz="4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" name="Google Shape;92;p13"/>
          <p:cNvSpPr/>
          <p:nvPr/>
        </p:nvSpPr>
        <p:spPr>
          <a:xfrm>
            <a:off x="762120" y="3580200"/>
            <a:ext cx="904824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94a3b8"/>
                </a:solidFill>
                <a:uFillTx/>
                <a:latin typeface="Inter"/>
                <a:ea typeface="Inter"/>
              </a:rPr>
              <a:t>AI-Powered Educational Assistant</a:t>
            </a: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4" name="Google Shape;93;p13"/>
          <p:cNvSpPr/>
          <p:nvPr/>
        </p:nvSpPr>
        <p:spPr>
          <a:xfrm>
            <a:off x="1257480" y="704880"/>
            <a:ext cx="235692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94a3b8"/>
                </a:solidFill>
                <a:uFillTx/>
                <a:latin typeface="Inter"/>
                <a:ea typeface="Inter"/>
              </a:rPr>
              <a:t>ACADEMIC PROJECT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5" name="Google Shape;94;p13"/>
          <p:cNvSpPr/>
          <p:nvPr/>
        </p:nvSpPr>
        <p:spPr>
          <a:xfrm>
            <a:off x="762120" y="4059360"/>
            <a:ext cx="139032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4748b"/>
                </a:solidFill>
                <a:uFillTx/>
                <a:latin typeface="Inter"/>
                <a:ea typeface="Inter"/>
              </a:rPr>
              <a:t>PRESENTED BY</a:t>
            </a:r>
            <a:endParaRPr b="0" lang="en-US" sz="105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6" name="Google Shape;95;p13"/>
          <p:cNvSpPr/>
          <p:nvPr/>
        </p:nvSpPr>
        <p:spPr>
          <a:xfrm>
            <a:off x="762120" y="4394520"/>
            <a:ext cx="2040480" cy="20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1f5f9"/>
                </a:solidFill>
                <a:uFillTx/>
                <a:latin typeface="Plus Jakarta Sans"/>
                <a:ea typeface="Plus Jakarta Sans"/>
              </a:rPr>
              <a:t>Rajashankari S</a:t>
            </a:r>
            <a:endParaRPr b="0" lang="en-US" sz="1500" strike="noStrike" u="non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500" strike="noStrike" u="non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1f5f9"/>
                </a:solidFill>
                <a:uFillTx/>
                <a:latin typeface="Plus Jakarta Sans"/>
                <a:ea typeface="Plus Jakarta Sans"/>
              </a:rPr>
              <a:t>Gayathri R</a:t>
            </a:r>
            <a:endParaRPr b="0" lang="en-US" sz="1500" strike="noStrike" u="non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500" strike="noStrike" u="non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1f5f9"/>
                </a:solidFill>
                <a:uFillTx/>
                <a:latin typeface="Plus Jakarta Sans"/>
                <a:ea typeface="Plus Jakarta Sans"/>
              </a:rPr>
              <a:t>Kishor S</a:t>
            </a:r>
            <a:endParaRPr b="0" lang="en-US" sz="1500" strike="noStrike" u="non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500" strike="noStrike" u="non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1f5f9"/>
                </a:solidFill>
                <a:uFillTx/>
                <a:latin typeface="Plus Jakarta Sans"/>
                <a:ea typeface="Plus Jakarta Sans"/>
              </a:rPr>
              <a:t>Divinkumar R</a:t>
            </a:r>
            <a:endParaRPr b="0" lang="en-US" sz="1500" strike="noStrike" u="non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500" strike="noStrike" u="non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1f5f9"/>
                </a:solidFill>
                <a:uFillTx/>
                <a:latin typeface="Plus Jakarta Sans"/>
                <a:ea typeface="Plus Jakarta Sans"/>
              </a:rPr>
              <a:t>Joyal selvakumar S</a:t>
            </a:r>
            <a:endParaRPr b="0" lang="en-US" sz="15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7" name="Google Shape;96;p13"/>
          <p:cNvSpPr/>
          <p:nvPr/>
        </p:nvSpPr>
        <p:spPr>
          <a:xfrm>
            <a:off x="6846120" y="5848200"/>
            <a:ext cx="458352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4748b"/>
                </a:solidFill>
                <a:uFillTx/>
                <a:latin typeface="Inter"/>
                <a:ea typeface="Inter"/>
              </a:rPr>
              <a:t>DEPARTMENT</a:t>
            </a:r>
            <a:endParaRPr b="0" lang="en-US" sz="105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8" name="Google Shape;97;p13"/>
          <p:cNvSpPr/>
          <p:nvPr/>
        </p:nvSpPr>
        <p:spPr>
          <a:xfrm>
            <a:off x="6846120" y="6048360"/>
            <a:ext cx="458352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cbd5e1"/>
                </a:solidFill>
                <a:uFillTx/>
                <a:latin typeface="Inter"/>
                <a:ea typeface="Inter"/>
              </a:rPr>
              <a:t>B.Sc. Computer Scienc</a:t>
            </a:r>
            <a:endParaRPr b="0" lang="en-US" sz="135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02;p14"/>
          <p:cNvSpPr/>
          <p:nvPr/>
        </p:nvSpPr>
        <p:spPr>
          <a:xfrm>
            <a:off x="685800" y="6000840"/>
            <a:ext cx="1082016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20" name="Google Shape;103;p14"/>
          <p:cNvSpPr/>
          <p:nvPr/>
        </p:nvSpPr>
        <p:spPr>
          <a:xfrm>
            <a:off x="685800" y="6000840"/>
            <a:ext cx="1082016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21" name="Google Shape;104;p14"/>
          <p:cNvSpPr/>
          <p:nvPr/>
        </p:nvSpPr>
        <p:spPr>
          <a:xfrm>
            <a:off x="685800" y="3808800"/>
            <a:ext cx="5238360" cy="79992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22" name="Google Shape;105;p14"/>
          <p:cNvSpPr/>
          <p:nvPr/>
        </p:nvSpPr>
        <p:spPr>
          <a:xfrm>
            <a:off x="6267600" y="2053440"/>
            <a:ext cx="5238360" cy="523440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23" name="Google Shape;106;p14"/>
          <p:cNvSpPr/>
          <p:nvPr/>
        </p:nvSpPr>
        <p:spPr>
          <a:xfrm>
            <a:off x="6267600" y="2691720"/>
            <a:ext cx="5238360" cy="523440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24" name="Google Shape;107;p14"/>
          <p:cNvSpPr/>
          <p:nvPr/>
        </p:nvSpPr>
        <p:spPr>
          <a:xfrm>
            <a:off x="6267600" y="3330000"/>
            <a:ext cx="5238360" cy="523440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25" name="Google Shape;108;p14"/>
          <p:cNvSpPr/>
          <p:nvPr/>
        </p:nvSpPr>
        <p:spPr>
          <a:xfrm>
            <a:off x="6267600" y="3967920"/>
            <a:ext cx="5238360" cy="523440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26" name="Google Shape;109;p14"/>
          <p:cNvSpPr/>
          <p:nvPr/>
        </p:nvSpPr>
        <p:spPr>
          <a:xfrm>
            <a:off x="6267600" y="4606200"/>
            <a:ext cx="5238360" cy="523440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pic>
        <p:nvPicPr>
          <p:cNvPr id="27" name="Google Shape;110;p14" descr="image.png"/>
          <p:cNvPicPr/>
          <p:nvPr/>
        </p:nvPicPr>
        <p:blipFill>
          <a:blip r:embed="rId1"/>
          <a:stretch/>
        </p:blipFill>
        <p:spPr>
          <a:xfrm>
            <a:off x="923760" y="4094640"/>
            <a:ext cx="199800" cy="228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" name="Google Shape;111;p14" descr="image.png"/>
          <p:cNvPicPr/>
          <p:nvPr/>
        </p:nvPicPr>
        <p:blipFill>
          <a:blip r:embed="rId2"/>
          <a:stretch/>
        </p:blipFill>
        <p:spPr>
          <a:xfrm>
            <a:off x="6467400" y="2220120"/>
            <a:ext cx="190080" cy="190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" name="Google Shape;112;p14" descr="image.png"/>
          <p:cNvPicPr/>
          <p:nvPr/>
        </p:nvPicPr>
        <p:blipFill>
          <a:blip r:embed="rId3"/>
          <a:stretch/>
        </p:blipFill>
        <p:spPr>
          <a:xfrm>
            <a:off x="6467400" y="2858400"/>
            <a:ext cx="142560" cy="190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" name="Google Shape;113;p14" descr="image.png"/>
          <p:cNvPicPr/>
          <p:nvPr/>
        </p:nvPicPr>
        <p:blipFill>
          <a:blip r:embed="rId4"/>
          <a:stretch/>
        </p:blipFill>
        <p:spPr>
          <a:xfrm>
            <a:off x="6467400" y="3496680"/>
            <a:ext cx="190080" cy="190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" name="Google Shape;114;p14" descr="image.png"/>
          <p:cNvPicPr/>
          <p:nvPr/>
        </p:nvPicPr>
        <p:blipFill>
          <a:blip r:embed="rId5"/>
          <a:stretch/>
        </p:blipFill>
        <p:spPr>
          <a:xfrm>
            <a:off x="6467400" y="4134600"/>
            <a:ext cx="142560" cy="190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" name="Google Shape;115;p14" descr="image.png"/>
          <p:cNvPicPr/>
          <p:nvPr/>
        </p:nvPicPr>
        <p:blipFill>
          <a:blip r:embed="rId6"/>
          <a:stretch/>
        </p:blipFill>
        <p:spPr>
          <a:xfrm>
            <a:off x="6467400" y="4772880"/>
            <a:ext cx="190080" cy="19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" name="Google Shape;116;p14"/>
          <p:cNvSpPr/>
          <p:nvPr/>
        </p:nvSpPr>
        <p:spPr>
          <a:xfrm>
            <a:off x="685800" y="533520"/>
            <a:ext cx="1150596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2563eb"/>
                </a:solidFill>
                <a:uFillTx/>
                <a:latin typeface="Inter"/>
                <a:ea typeface="Inter"/>
              </a:rPr>
              <a:t>EXECUTIVE SUMMARY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" name="Google Shape;117;p14"/>
          <p:cNvSpPr/>
          <p:nvPr/>
        </p:nvSpPr>
        <p:spPr>
          <a:xfrm>
            <a:off x="685800" y="771480"/>
            <a:ext cx="1150596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1" lang="en-US" sz="2700" strike="noStrike" u="none">
                <a:solidFill>
                  <a:srgbClr val="0f172a"/>
                </a:solidFill>
                <a:uFillTx/>
                <a:latin typeface="Plus Jakarta Sans"/>
                <a:ea typeface="Plus Jakarta Sans"/>
              </a:rPr>
              <a:t>Project Overview</a:t>
            </a:r>
            <a:endParaRPr b="0" lang="en-US" sz="2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" name="Google Shape;118;p14"/>
          <p:cNvSpPr/>
          <p:nvPr/>
        </p:nvSpPr>
        <p:spPr>
          <a:xfrm>
            <a:off x="685800" y="6162840"/>
            <a:ext cx="220212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4748b"/>
                </a:solidFill>
                <a:uFillTx/>
                <a:latin typeface="Inter"/>
                <a:ea typeface="Inter"/>
              </a:rPr>
              <a:t>EduGenie Architecture Deck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" name="Google Shape;119;p14"/>
          <p:cNvSpPr/>
          <p:nvPr/>
        </p:nvSpPr>
        <p:spPr>
          <a:xfrm>
            <a:off x="10991880" y="6162840"/>
            <a:ext cx="79992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4748b"/>
                </a:solidFill>
                <a:uFillTx/>
                <a:latin typeface="Inter"/>
                <a:ea typeface="Inter"/>
              </a:rPr>
              <a:t>Slide 02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7" name="Google Shape;120;p14"/>
          <p:cNvSpPr/>
          <p:nvPr/>
        </p:nvSpPr>
        <p:spPr>
          <a:xfrm>
            <a:off x="685800" y="2574720"/>
            <a:ext cx="5333760" cy="120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0" lang="en-US" sz="1650" strike="noStrike" u="none">
                <a:solidFill>
                  <a:srgbClr val="334155"/>
                </a:solidFill>
                <a:uFillTx/>
                <a:latin typeface="Inter"/>
                <a:ea typeface="Inter"/>
              </a:rPr>
              <a:t>EduGenie combines Generative AI with a student-friendly web interface to deliver on-demand educational support.</a:t>
            </a:r>
            <a:endParaRPr b="0" lang="en-US" sz="16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8" name="Google Shape;121;p14"/>
          <p:cNvSpPr/>
          <p:nvPr/>
        </p:nvSpPr>
        <p:spPr>
          <a:xfrm>
            <a:off x="1238400" y="4008960"/>
            <a:ext cx="45432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1e293b"/>
                </a:solidFill>
                <a:uFillTx/>
                <a:latin typeface="Inter"/>
                <a:ea typeface="Inter"/>
              </a:rPr>
              <a:t>Unified cognitive study assistant powered by Google Gemini</a:t>
            </a:r>
            <a:endParaRPr b="0" lang="en-US" sz="13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" name="Google Shape;122;p14"/>
          <p:cNvSpPr/>
          <p:nvPr/>
        </p:nvSpPr>
        <p:spPr>
          <a:xfrm>
            <a:off x="6810480" y="2215440"/>
            <a:ext cx="227376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1e293b"/>
                </a:solidFill>
                <a:uFillTx/>
                <a:latin typeface="Inter"/>
                <a:ea typeface="Inter"/>
              </a:rPr>
              <a:t>AI Question &amp; Answer</a:t>
            </a:r>
            <a:endParaRPr b="0" lang="en-US" sz="13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0" name="Google Shape;123;p14"/>
          <p:cNvSpPr/>
          <p:nvPr/>
        </p:nvSpPr>
        <p:spPr>
          <a:xfrm>
            <a:off x="6762600" y="2853720"/>
            <a:ext cx="213084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1e293b"/>
                </a:solidFill>
                <a:uFillTx/>
                <a:latin typeface="Inter"/>
                <a:ea typeface="Inter"/>
              </a:rPr>
              <a:t>Concept Explanation</a:t>
            </a:r>
            <a:endParaRPr b="0" lang="en-US" sz="13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1" name="Google Shape;124;p14"/>
          <p:cNvSpPr/>
          <p:nvPr/>
        </p:nvSpPr>
        <p:spPr>
          <a:xfrm>
            <a:off x="6810480" y="3491640"/>
            <a:ext cx="284508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1e293b"/>
                </a:solidFill>
                <a:uFillTx/>
                <a:latin typeface="Inter"/>
                <a:ea typeface="Inter"/>
              </a:rPr>
              <a:t>Interactive Quiz Generation</a:t>
            </a:r>
            <a:endParaRPr b="0" lang="en-US" sz="13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2" name="Google Shape;125;p14"/>
          <p:cNvSpPr/>
          <p:nvPr/>
        </p:nvSpPr>
        <p:spPr>
          <a:xfrm>
            <a:off x="6762600" y="4129920"/>
            <a:ext cx="311904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1e293b"/>
                </a:solidFill>
                <a:uFillTx/>
                <a:latin typeface="Inter"/>
                <a:ea typeface="Inter"/>
              </a:rPr>
              <a:t>Study Material Summarization</a:t>
            </a:r>
            <a:endParaRPr b="0" lang="en-US" sz="13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" name="Google Shape;126;p14"/>
          <p:cNvSpPr/>
          <p:nvPr/>
        </p:nvSpPr>
        <p:spPr>
          <a:xfrm>
            <a:off x="6810480" y="4768200"/>
            <a:ext cx="430956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1e293b"/>
                </a:solidFill>
                <a:uFillTx/>
                <a:latin typeface="Inter"/>
                <a:ea typeface="Inter"/>
              </a:rPr>
              <a:t>Personalized Learning Recommendations</a:t>
            </a:r>
            <a:endParaRPr b="0" lang="en-US" sz="13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131;p15"/>
          <p:cNvSpPr/>
          <p:nvPr/>
        </p:nvSpPr>
        <p:spPr>
          <a:xfrm>
            <a:off x="685800" y="5829480"/>
            <a:ext cx="10820160" cy="495000"/>
          </a:xfrm>
          <a:prstGeom prst="roundRect">
            <a:avLst>
              <a:gd name="adj" fmla="val 15384"/>
            </a:avLst>
          </a:prstGeom>
          <a:solidFill>
            <a:srgbClr val="f1f5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45" name="Google Shape;132;p15"/>
          <p:cNvSpPr/>
          <p:nvPr/>
        </p:nvSpPr>
        <p:spPr>
          <a:xfrm>
            <a:off x="685800" y="2634480"/>
            <a:ext cx="2561760" cy="1742760"/>
          </a:xfrm>
          <a:prstGeom prst="roundRect">
            <a:avLst>
              <a:gd name="adj" fmla="val 6557"/>
            </a:avLst>
          </a:prstGeom>
          <a:solidFill>
            <a:srgbClr val="fef2f2"/>
          </a:solidFill>
          <a:ln w="9525">
            <a:solidFill>
              <a:srgbClr val="fee2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46" name="Google Shape;133;p15"/>
          <p:cNvSpPr/>
          <p:nvPr/>
        </p:nvSpPr>
        <p:spPr>
          <a:xfrm>
            <a:off x="3438360" y="2634480"/>
            <a:ext cx="2561760" cy="1742760"/>
          </a:xfrm>
          <a:prstGeom prst="roundRect">
            <a:avLst>
              <a:gd name="adj" fmla="val 6557"/>
            </a:avLst>
          </a:prstGeom>
          <a:solidFill>
            <a:srgbClr val="fff7ed"/>
          </a:solidFill>
          <a:ln w="9525">
            <a:solidFill>
              <a:srgbClr val="ffed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47" name="Google Shape;134;p15"/>
          <p:cNvSpPr/>
          <p:nvPr/>
        </p:nvSpPr>
        <p:spPr>
          <a:xfrm>
            <a:off x="6191280" y="2634480"/>
            <a:ext cx="2561760" cy="1742760"/>
          </a:xfrm>
          <a:prstGeom prst="roundRect">
            <a:avLst>
              <a:gd name="adj" fmla="val 6557"/>
            </a:avLst>
          </a:prstGeom>
          <a:solidFill>
            <a:srgbClr val="fefce8"/>
          </a:solidFill>
          <a:ln w="9525">
            <a:solidFill>
              <a:srgbClr val="fef9c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48" name="Google Shape;135;p15"/>
          <p:cNvSpPr/>
          <p:nvPr/>
        </p:nvSpPr>
        <p:spPr>
          <a:xfrm>
            <a:off x="8943840" y="2634480"/>
            <a:ext cx="2561760" cy="1742760"/>
          </a:xfrm>
          <a:prstGeom prst="roundRect">
            <a:avLst>
              <a:gd name="adj" fmla="val 6557"/>
            </a:avLst>
          </a:prstGeom>
          <a:solidFill>
            <a:srgbClr val="f8fafc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pic>
        <p:nvPicPr>
          <p:cNvPr id="49" name="Google Shape;136;p15" descr="image.png"/>
          <p:cNvPicPr/>
          <p:nvPr/>
        </p:nvPicPr>
        <p:blipFill>
          <a:blip r:embed="rId1"/>
          <a:stretch/>
        </p:blipFill>
        <p:spPr>
          <a:xfrm>
            <a:off x="914400" y="5981760"/>
            <a:ext cx="190080" cy="190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0" name="Google Shape;137;p15" descr="image.png"/>
          <p:cNvPicPr/>
          <p:nvPr/>
        </p:nvPicPr>
        <p:blipFill>
          <a:blip r:embed="rId2"/>
          <a:stretch/>
        </p:blipFill>
        <p:spPr>
          <a:xfrm>
            <a:off x="923760" y="2910960"/>
            <a:ext cx="266400" cy="266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1" name="Google Shape;138;p15" descr="image.png"/>
          <p:cNvPicPr/>
          <p:nvPr/>
        </p:nvPicPr>
        <p:blipFill>
          <a:blip r:embed="rId3"/>
          <a:stretch/>
        </p:blipFill>
        <p:spPr>
          <a:xfrm>
            <a:off x="3676680" y="2910960"/>
            <a:ext cx="199800" cy="266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2" name="Google Shape;139;p15" descr="image.png"/>
          <p:cNvPicPr/>
          <p:nvPr/>
        </p:nvPicPr>
        <p:blipFill>
          <a:blip r:embed="rId4"/>
          <a:stretch/>
        </p:blipFill>
        <p:spPr>
          <a:xfrm>
            <a:off x="6429240" y="2910960"/>
            <a:ext cx="199800" cy="266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3" name="Google Shape;140;p15" descr="image.png"/>
          <p:cNvPicPr/>
          <p:nvPr/>
        </p:nvPicPr>
        <p:blipFill>
          <a:blip r:embed="rId5"/>
          <a:stretch/>
        </p:blipFill>
        <p:spPr>
          <a:xfrm>
            <a:off x="9182160" y="2910960"/>
            <a:ext cx="266400" cy="26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" name="Google Shape;141;p15"/>
          <p:cNvSpPr/>
          <p:nvPr/>
        </p:nvSpPr>
        <p:spPr>
          <a:xfrm>
            <a:off x="685800" y="533520"/>
            <a:ext cx="1150596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dc2626"/>
                </a:solidFill>
                <a:uFillTx/>
                <a:latin typeface="Inter"/>
                <a:ea typeface="Inter"/>
              </a:rPr>
              <a:t>CHALLENGES IN SELF-STUDY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5" name="Google Shape;142;p15"/>
          <p:cNvSpPr/>
          <p:nvPr/>
        </p:nvSpPr>
        <p:spPr>
          <a:xfrm>
            <a:off x="685800" y="771480"/>
            <a:ext cx="1150596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1" lang="en-US" sz="2700" strike="noStrike" u="none">
                <a:solidFill>
                  <a:srgbClr val="0f172a"/>
                </a:solidFill>
                <a:uFillTx/>
                <a:latin typeface="Plus Jakarta Sans"/>
                <a:ea typeface="Plus Jakarta Sans"/>
              </a:rPr>
              <a:t>Problem Statement</a:t>
            </a:r>
            <a:endParaRPr b="0" lang="en-US" sz="2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6" name="Google Shape;143;p15"/>
          <p:cNvSpPr/>
          <p:nvPr/>
        </p:nvSpPr>
        <p:spPr>
          <a:xfrm>
            <a:off x="1257480" y="5981760"/>
            <a:ext cx="838152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334155"/>
                </a:solidFill>
                <a:uFillTx/>
                <a:latin typeface="Inter"/>
                <a:ea typeface="Inter"/>
              </a:rPr>
              <a:t>Traditional learning resources provide information but lack personalization and interactivity.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7" name="Google Shape;144;p15"/>
          <p:cNvSpPr/>
          <p:nvPr/>
        </p:nvSpPr>
        <p:spPr>
          <a:xfrm>
            <a:off x="923760" y="3330000"/>
            <a:ext cx="273744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991b1b"/>
                </a:solidFill>
                <a:uFillTx/>
                <a:latin typeface="Plus Jakarta Sans"/>
                <a:ea typeface="Plus Jakarta Sans"/>
              </a:rPr>
              <a:t>Complex Concepts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8" name="Google Shape;145;p15"/>
          <p:cNvSpPr/>
          <p:nvPr/>
        </p:nvSpPr>
        <p:spPr>
          <a:xfrm>
            <a:off x="923760" y="3644280"/>
            <a:ext cx="2180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7f1d1d"/>
                </a:solidFill>
                <a:uFillTx/>
                <a:latin typeface="Inter"/>
                <a:ea typeface="Inter"/>
              </a:rPr>
              <a:t>Understanding difficult academic ideas.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9" name="Google Shape;146;p15"/>
          <p:cNvSpPr/>
          <p:nvPr/>
        </p:nvSpPr>
        <p:spPr>
          <a:xfrm>
            <a:off x="3676680" y="3330000"/>
            <a:ext cx="273744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9a3412"/>
                </a:solidFill>
                <a:uFillTx/>
                <a:latin typeface="Plus Jakarta Sans"/>
                <a:ea typeface="Plus Jakarta Sans"/>
              </a:rPr>
              <a:t>Slow Explanations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0" name="Google Shape;147;p15"/>
          <p:cNvSpPr/>
          <p:nvPr/>
        </p:nvSpPr>
        <p:spPr>
          <a:xfrm>
            <a:off x="3676680" y="3644280"/>
            <a:ext cx="2180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7c2d12"/>
                </a:solidFill>
                <a:uFillTx/>
                <a:latin typeface="Inter"/>
                <a:ea typeface="Inter"/>
              </a:rPr>
              <a:t>Finding quick and clear explanations.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1" name="Google Shape;148;p15"/>
          <p:cNvSpPr/>
          <p:nvPr/>
        </p:nvSpPr>
        <p:spPr>
          <a:xfrm>
            <a:off x="6429240" y="3330000"/>
            <a:ext cx="273744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854d0e"/>
                </a:solidFill>
                <a:uFillTx/>
                <a:latin typeface="Plus Jakarta Sans"/>
                <a:ea typeface="Plus Jakarta Sans"/>
              </a:rPr>
              <a:t>Manual Quizzing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2" name="Google Shape;149;p15"/>
          <p:cNvSpPr/>
          <p:nvPr/>
        </p:nvSpPr>
        <p:spPr>
          <a:xfrm>
            <a:off x="6429240" y="3644280"/>
            <a:ext cx="2180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713f12"/>
                </a:solidFill>
                <a:uFillTx/>
                <a:latin typeface="Inter"/>
                <a:ea typeface="Inter"/>
              </a:rPr>
              <a:t>Preparing reliable practice questions.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3" name="Google Shape;150;p15"/>
          <p:cNvSpPr/>
          <p:nvPr/>
        </p:nvSpPr>
        <p:spPr>
          <a:xfrm>
            <a:off x="9182160" y="3330000"/>
            <a:ext cx="273744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e293b"/>
                </a:solidFill>
                <a:uFillTx/>
                <a:latin typeface="Plus Jakarta Sans"/>
                <a:ea typeface="Plus Jakarta Sans"/>
              </a:rPr>
              <a:t>No Guidance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4" name="Google Shape;151;p15"/>
          <p:cNvSpPr/>
          <p:nvPr/>
        </p:nvSpPr>
        <p:spPr>
          <a:xfrm>
            <a:off x="9182160" y="3644280"/>
            <a:ext cx="218088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475569"/>
                </a:solidFill>
                <a:uFillTx/>
                <a:latin typeface="Inter"/>
                <a:ea typeface="Inter"/>
              </a:rPr>
              <a:t>Identifying what to study next.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156;p16"/>
          <p:cNvSpPr/>
          <p:nvPr/>
        </p:nvSpPr>
        <p:spPr>
          <a:xfrm>
            <a:off x="685800" y="6000840"/>
            <a:ext cx="1082016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66" name="Google Shape;157;p16"/>
          <p:cNvSpPr/>
          <p:nvPr/>
        </p:nvSpPr>
        <p:spPr>
          <a:xfrm>
            <a:off x="685800" y="6000840"/>
            <a:ext cx="1082016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67" name="Google Shape;158;p16"/>
          <p:cNvSpPr/>
          <p:nvPr/>
        </p:nvSpPr>
        <p:spPr>
          <a:xfrm>
            <a:off x="685800" y="2210760"/>
            <a:ext cx="5257440" cy="81864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68" name="Google Shape;159;p16"/>
          <p:cNvSpPr/>
          <p:nvPr/>
        </p:nvSpPr>
        <p:spPr>
          <a:xfrm>
            <a:off x="685800" y="3182400"/>
            <a:ext cx="5257440" cy="81864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69" name="Google Shape;160;p16"/>
          <p:cNvSpPr/>
          <p:nvPr/>
        </p:nvSpPr>
        <p:spPr>
          <a:xfrm>
            <a:off x="685800" y="4153680"/>
            <a:ext cx="5257440" cy="81864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70" name="Google Shape;161;p16"/>
          <p:cNvSpPr/>
          <p:nvPr/>
        </p:nvSpPr>
        <p:spPr>
          <a:xfrm>
            <a:off x="6248520" y="2210760"/>
            <a:ext cx="5257440" cy="81864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71" name="Google Shape;162;p16"/>
          <p:cNvSpPr/>
          <p:nvPr/>
        </p:nvSpPr>
        <p:spPr>
          <a:xfrm>
            <a:off x="6248520" y="3182400"/>
            <a:ext cx="5257440" cy="81864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72" name="Google Shape;163;p16"/>
          <p:cNvSpPr/>
          <p:nvPr/>
        </p:nvSpPr>
        <p:spPr>
          <a:xfrm>
            <a:off x="6248520" y="4153680"/>
            <a:ext cx="5257440" cy="81864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73" name="Google Shape;164;p16"/>
          <p:cNvSpPr/>
          <p:nvPr/>
        </p:nvSpPr>
        <p:spPr>
          <a:xfrm>
            <a:off x="685800" y="533520"/>
            <a:ext cx="1150596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2563eb"/>
                </a:solidFill>
                <a:uFillTx/>
                <a:latin typeface="Inter"/>
                <a:ea typeface="Inter"/>
              </a:rPr>
              <a:t>GOALS &amp; VISION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4" name="Google Shape;165;p16"/>
          <p:cNvSpPr/>
          <p:nvPr/>
        </p:nvSpPr>
        <p:spPr>
          <a:xfrm>
            <a:off x="685800" y="771480"/>
            <a:ext cx="1150596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1" lang="en-US" sz="2700" strike="noStrike" u="none">
                <a:solidFill>
                  <a:srgbClr val="0f172a"/>
                </a:solidFill>
                <a:uFillTx/>
                <a:latin typeface="Plus Jakarta Sans"/>
                <a:ea typeface="Plus Jakarta Sans"/>
              </a:rPr>
              <a:t>Project Objectives</a:t>
            </a:r>
            <a:endParaRPr b="0" lang="en-US" sz="2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5" name="Google Shape;166;p16"/>
          <p:cNvSpPr/>
          <p:nvPr/>
        </p:nvSpPr>
        <p:spPr>
          <a:xfrm>
            <a:off x="685800" y="6162840"/>
            <a:ext cx="220212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4748b"/>
                </a:solidFill>
                <a:uFillTx/>
                <a:latin typeface="Inter"/>
                <a:ea typeface="Inter"/>
              </a:rPr>
              <a:t>EduGenie Architecture Deck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6" name="Google Shape;167;p16"/>
          <p:cNvSpPr/>
          <p:nvPr/>
        </p:nvSpPr>
        <p:spPr>
          <a:xfrm>
            <a:off x="10991880" y="6162840"/>
            <a:ext cx="79992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4748b"/>
                </a:solidFill>
                <a:uFillTx/>
                <a:latin typeface="Inter"/>
                <a:ea typeface="Inter"/>
              </a:rPr>
              <a:t>Slide 04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7" name="Google Shape;168;p16"/>
          <p:cNvSpPr/>
          <p:nvPr/>
        </p:nvSpPr>
        <p:spPr>
          <a:xfrm>
            <a:off x="923760" y="2410560"/>
            <a:ext cx="597672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1e293b"/>
                </a:solidFill>
                <a:uFillTx/>
                <a:latin typeface="Inter"/>
                <a:ea typeface="Inter"/>
              </a:rPr>
              <a:t>Provide AI-Powered Assistance</a:t>
            </a:r>
            <a:endParaRPr b="0" lang="en-US" sz="13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8" name="Google Shape;169;p16"/>
          <p:cNvSpPr/>
          <p:nvPr/>
        </p:nvSpPr>
        <p:spPr>
          <a:xfrm>
            <a:off x="923760" y="2648880"/>
            <a:ext cx="5976720" cy="17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30" strike="noStrike" u="none">
                <a:solidFill>
                  <a:srgbClr val="64748b"/>
                </a:solidFill>
                <a:uFillTx/>
                <a:latin typeface="Inter"/>
                <a:ea typeface="Inter"/>
              </a:rPr>
              <a:t>Accessible guidance through modern web technology.</a:t>
            </a:r>
            <a:endParaRPr b="0" lang="en-US" sz="113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9" name="Google Shape;170;p16"/>
          <p:cNvSpPr/>
          <p:nvPr/>
        </p:nvSpPr>
        <p:spPr>
          <a:xfrm>
            <a:off x="923760" y="3382200"/>
            <a:ext cx="597672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1e293b"/>
                </a:solidFill>
                <a:uFillTx/>
                <a:latin typeface="Inter"/>
                <a:ea typeface="Inter"/>
              </a:rPr>
              <a:t>Simplify Difficult Concepts</a:t>
            </a:r>
            <a:endParaRPr b="0" lang="en-US" sz="13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0" name="Google Shape;171;p16"/>
          <p:cNvSpPr/>
          <p:nvPr/>
        </p:nvSpPr>
        <p:spPr>
          <a:xfrm>
            <a:off x="923760" y="3620520"/>
            <a:ext cx="5976720" cy="17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30" strike="noStrike" u="none">
                <a:solidFill>
                  <a:srgbClr val="64748b"/>
                </a:solidFill>
                <a:uFillTx/>
                <a:latin typeface="Inter"/>
                <a:ea typeface="Inter"/>
              </a:rPr>
              <a:t>Transform dense theory into clear explanations.</a:t>
            </a:r>
            <a:endParaRPr b="0" lang="en-US" sz="113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1" name="Google Shape;172;p16"/>
          <p:cNvSpPr/>
          <p:nvPr/>
        </p:nvSpPr>
        <p:spPr>
          <a:xfrm>
            <a:off x="923760" y="4353840"/>
            <a:ext cx="597672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1e293b"/>
                </a:solidFill>
                <a:uFillTx/>
                <a:latin typeface="Inter"/>
                <a:ea typeface="Inter"/>
              </a:rPr>
              <a:t>Generate Practice Quizzes</a:t>
            </a:r>
            <a:endParaRPr b="0" lang="en-US" sz="13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2" name="Google Shape;173;p16"/>
          <p:cNvSpPr/>
          <p:nvPr/>
        </p:nvSpPr>
        <p:spPr>
          <a:xfrm>
            <a:off x="923760" y="4591800"/>
            <a:ext cx="5976720" cy="17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30" strike="noStrike" u="none">
                <a:solidFill>
                  <a:srgbClr val="64748b"/>
                </a:solidFill>
                <a:uFillTx/>
                <a:latin typeface="Inter"/>
                <a:ea typeface="Inter"/>
              </a:rPr>
              <a:t>Automate self-assessment with instant scoring.</a:t>
            </a:r>
            <a:endParaRPr b="0" lang="en-US" sz="113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3" name="Google Shape;174;p16"/>
          <p:cNvSpPr/>
          <p:nvPr/>
        </p:nvSpPr>
        <p:spPr>
          <a:xfrm>
            <a:off x="6486480" y="2410560"/>
            <a:ext cx="570528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1e293b"/>
                </a:solidFill>
                <a:uFillTx/>
                <a:latin typeface="Inter"/>
                <a:ea typeface="Inter"/>
              </a:rPr>
              <a:t>Summarize Study Materials</a:t>
            </a:r>
            <a:endParaRPr b="0" lang="en-US" sz="13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4" name="Google Shape;175;p16"/>
          <p:cNvSpPr/>
          <p:nvPr/>
        </p:nvSpPr>
        <p:spPr>
          <a:xfrm>
            <a:off x="6486480" y="2648880"/>
            <a:ext cx="5705280" cy="17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30" strike="noStrike" u="none">
                <a:solidFill>
                  <a:srgbClr val="64748b"/>
                </a:solidFill>
                <a:uFillTx/>
                <a:latin typeface="Inter"/>
                <a:ea typeface="Inter"/>
              </a:rPr>
              <a:t>Synthesize lengthy readings into concise revision points.</a:t>
            </a:r>
            <a:endParaRPr b="0" lang="en-US" sz="113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5" name="Google Shape;176;p16"/>
          <p:cNvSpPr/>
          <p:nvPr/>
        </p:nvSpPr>
        <p:spPr>
          <a:xfrm>
            <a:off x="6486480" y="3382200"/>
            <a:ext cx="570528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1e293b"/>
                </a:solidFill>
                <a:uFillTx/>
                <a:latin typeface="Inter"/>
                <a:ea typeface="Inter"/>
              </a:rPr>
              <a:t>Personalized Learning Paths</a:t>
            </a:r>
            <a:endParaRPr b="0" lang="en-US" sz="13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6" name="Google Shape;177;p16"/>
          <p:cNvSpPr/>
          <p:nvPr/>
        </p:nvSpPr>
        <p:spPr>
          <a:xfrm>
            <a:off x="6486480" y="3620520"/>
            <a:ext cx="5705280" cy="17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30" strike="noStrike" u="none">
                <a:solidFill>
                  <a:srgbClr val="64748b"/>
                </a:solidFill>
                <a:uFillTx/>
                <a:latin typeface="Inter"/>
                <a:ea typeface="Inter"/>
              </a:rPr>
              <a:t>Deliver structured topic roadmaps and prerequisites.</a:t>
            </a:r>
            <a:endParaRPr b="0" lang="en-US" sz="113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7" name="Google Shape;178;p16"/>
          <p:cNvSpPr/>
          <p:nvPr/>
        </p:nvSpPr>
        <p:spPr>
          <a:xfrm>
            <a:off x="6486480" y="4353840"/>
            <a:ext cx="570528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1e293b"/>
                </a:solidFill>
                <a:uFillTx/>
                <a:latin typeface="Inter"/>
                <a:ea typeface="Inter"/>
              </a:rPr>
              <a:t>Support Self-Paced Learning</a:t>
            </a:r>
            <a:endParaRPr b="0" lang="en-US" sz="13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8" name="Google Shape;179;p16"/>
          <p:cNvSpPr/>
          <p:nvPr/>
        </p:nvSpPr>
        <p:spPr>
          <a:xfrm>
            <a:off x="6486480" y="4591800"/>
            <a:ext cx="5705280" cy="17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30" strike="noStrike" u="none">
                <a:solidFill>
                  <a:srgbClr val="64748b"/>
                </a:solidFill>
                <a:uFillTx/>
                <a:latin typeface="Inter"/>
                <a:ea typeface="Inter"/>
              </a:rPr>
              <a:t>Reduce manual note-making and study preparation time.</a:t>
            </a:r>
            <a:endParaRPr b="0" lang="en-US" sz="113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184;p17"/>
          <p:cNvSpPr/>
          <p:nvPr/>
        </p:nvSpPr>
        <p:spPr>
          <a:xfrm>
            <a:off x="685800" y="6000840"/>
            <a:ext cx="1082016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90" name="Google Shape;185;p17"/>
          <p:cNvSpPr/>
          <p:nvPr/>
        </p:nvSpPr>
        <p:spPr>
          <a:xfrm>
            <a:off x="685800" y="2496600"/>
            <a:ext cx="5238360" cy="219024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91" name="Google Shape;186;p17"/>
          <p:cNvSpPr/>
          <p:nvPr/>
        </p:nvSpPr>
        <p:spPr>
          <a:xfrm>
            <a:off x="6267600" y="2496600"/>
            <a:ext cx="5238360" cy="2190240"/>
          </a:xfrm>
          <a:prstGeom prst="roundRect">
            <a:avLst>
              <a:gd name="adj" fmla="val 5217"/>
            </a:avLst>
          </a:prstGeom>
          <a:solidFill>
            <a:srgbClr val="fef2f2"/>
          </a:solidFill>
          <a:ln w="9525">
            <a:solidFill>
              <a:srgbClr val="fee2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92" name="Google Shape;187;p17"/>
          <p:cNvSpPr/>
          <p:nvPr/>
        </p:nvSpPr>
        <p:spPr>
          <a:xfrm>
            <a:off x="685800" y="6000840"/>
            <a:ext cx="1082016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pic>
        <p:nvPicPr>
          <p:cNvPr id="93" name="Google Shape;188;p17" descr="image.png"/>
          <p:cNvPicPr/>
          <p:nvPr/>
        </p:nvPicPr>
        <p:blipFill>
          <a:blip r:embed="rId1"/>
          <a:stretch/>
        </p:blipFill>
        <p:spPr>
          <a:xfrm>
            <a:off x="1000080" y="3287160"/>
            <a:ext cx="132840" cy="151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4" name="Google Shape;189;p17" descr="image.png"/>
          <p:cNvPicPr/>
          <p:nvPr/>
        </p:nvPicPr>
        <p:blipFill>
          <a:blip r:embed="rId2"/>
          <a:stretch/>
        </p:blipFill>
        <p:spPr>
          <a:xfrm>
            <a:off x="1000080" y="3591720"/>
            <a:ext cx="151920" cy="151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5" name="Google Shape;190;p17" descr="image.png"/>
          <p:cNvPicPr/>
          <p:nvPr/>
        </p:nvPicPr>
        <p:blipFill>
          <a:blip r:embed="rId3"/>
          <a:stretch/>
        </p:blipFill>
        <p:spPr>
          <a:xfrm>
            <a:off x="1000080" y="3896640"/>
            <a:ext cx="151920" cy="151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6" name="Google Shape;191;p17" descr="image.png"/>
          <p:cNvPicPr/>
          <p:nvPr/>
        </p:nvPicPr>
        <p:blipFill>
          <a:blip r:embed="rId4"/>
          <a:stretch/>
        </p:blipFill>
        <p:spPr>
          <a:xfrm>
            <a:off x="1000080" y="4201560"/>
            <a:ext cx="151920" cy="151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7" name="Google Shape;192;p17" descr="image.png"/>
          <p:cNvPicPr/>
          <p:nvPr/>
        </p:nvPicPr>
        <p:blipFill>
          <a:blip r:embed="rId5"/>
          <a:stretch/>
        </p:blipFill>
        <p:spPr>
          <a:xfrm>
            <a:off x="6581880" y="3287160"/>
            <a:ext cx="151920" cy="151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8" name="Google Shape;193;p17" descr="image.png"/>
          <p:cNvPicPr/>
          <p:nvPr/>
        </p:nvPicPr>
        <p:blipFill>
          <a:blip r:embed="rId6"/>
          <a:stretch/>
        </p:blipFill>
        <p:spPr>
          <a:xfrm>
            <a:off x="6581880" y="3591720"/>
            <a:ext cx="151920" cy="151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9" name="Google Shape;194;p17" descr="image.png"/>
          <p:cNvPicPr/>
          <p:nvPr/>
        </p:nvPicPr>
        <p:blipFill>
          <a:blip r:embed="rId7"/>
          <a:stretch/>
        </p:blipFill>
        <p:spPr>
          <a:xfrm>
            <a:off x="6581880" y="3896640"/>
            <a:ext cx="151920" cy="151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0" name="Google Shape;195;p17" descr="image.png"/>
          <p:cNvPicPr/>
          <p:nvPr/>
        </p:nvPicPr>
        <p:blipFill>
          <a:blip r:embed="rId8"/>
          <a:stretch/>
        </p:blipFill>
        <p:spPr>
          <a:xfrm>
            <a:off x="6581880" y="4201560"/>
            <a:ext cx="151920" cy="151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1" name="Google Shape;196;p17"/>
          <p:cNvSpPr/>
          <p:nvPr/>
        </p:nvSpPr>
        <p:spPr>
          <a:xfrm>
            <a:off x="685800" y="533520"/>
            <a:ext cx="1150596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64748b"/>
                </a:solidFill>
                <a:uFillTx/>
                <a:latin typeface="Inter"/>
                <a:ea typeface="Inter"/>
              </a:rPr>
              <a:t>STATE OF CURRENT METHODS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2" name="Google Shape;197;p17"/>
          <p:cNvSpPr/>
          <p:nvPr/>
        </p:nvSpPr>
        <p:spPr>
          <a:xfrm>
            <a:off x="685800" y="771480"/>
            <a:ext cx="1150596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1" lang="en-US" sz="2700" strike="noStrike" u="none">
                <a:solidFill>
                  <a:srgbClr val="0f172a"/>
                </a:solidFill>
                <a:uFillTx/>
                <a:latin typeface="Plus Jakarta Sans"/>
                <a:ea typeface="Plus Jakarta Sans"/>
              </a:rPr>
              <a:t>Existing System</a:t>
            </a:r>
            <a:endParaRPr b="0" lang="en-US" sz="2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3" name="Google Shape;198;p17"/>
          <p:cNvSpPr/>
          <p:nvPr/>
        </p:nvSpPr>
        <p:spPr>
          <a:xfrm>
            <a:off x="685800" y="6162840"/>
            <a:ext cx="220212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4748b"/>
                </a:solidFill>
                <a:uFillTx/>
                <a:latin typeface="Inter"/>
                <a:ea typeface="Inter"/>
              </a:rPr>
              <a:t>EduGenie Architecture Deck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4" name="Google Shape;199;p17"/>
          <p:cNvSpPr/>
          <p:nvPr/>
        </p:nvSpPr>
        <p:spPr>
          <a:xfrm>
            <a:off x="11001240" y="6162840"/>
            <a:ext cx="79020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4748b"/>
                </a:solidFill>
                <a:uFillTx/>
                <a:latin typeface="Inter"/>
                <a:ea typeface="Inter"/>
              </a:rPr>
              <a:t>Slide 05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5" name="Google Shape;200;p17"/>
          <p:cNvSpPr/>
          <p:nvPr/>
        </p:nvSpPr>
        <p:spPr>
          <a:xfrm>
            <a:off x="1000080" y="2810880"/>
            <a:ext cx="6050520" cy="25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650" strike="noStrike" u="none">
                <a:solidFill>
                  <a:srgbClr val="1e293b"/>
                </a:solidFill>
                <a:uFillTx/>
                <a:latin typeface="Plus Jakarta Sans"/>
                <a:ea typeface="Plus Jakarta Sans"/>
              </a:rPr>
              <a:t>Conventional Resources</a:t>
            </a:r>
            <a:endParaRPr b="0" lang="en-US" sz="16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6" name="Google Shape;201;p17"/>
          <p:cNvSpPr/>
          <p:nvPr/>
        </p:nvSpPr>
        <p:spPr>
          <a:xfrm>
            <a:off x="6581880" y="2810880"/>
            <a:ext cx="5609880" cy="25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650" strike="noStrike" u="none">
                <a:solidFill>
                  <a:srgbClr val="991b1b"/>
                </a:solidFill>
                <a:uFillTx/>
                <a:latin typeface="Plus Jakarta Sans"/>
                <a:ea typeface="Plus Jakarta Sans"/>
              </a:rPr>
              <a:t>Key Limitations</a:t>
            </a:r>
            <a:endParaRPr b="0" lang="en-US" sz="16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7" name="Google Shape;202;p17"/>
          <p:cNvSpPr/>
          <p:nvPr/>
        </p:nvSpPr>
        <p:spPr>
          <a:xfrm>
            <a:off x="1247760" y="3268080"/>
            <a:ext cx="297612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334155"/>
                </a:solidFill>
                <a:uFillTx/>
                <a:latin typeface="Inter"/>
                <a:ea typeface="Inter"/>
              </a:rPr>
              <a:t>Static textbooks and paper notes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8" name="Google Shape;203;p17"/>
          <p:cNvSpPr/>
          <p:nvPr/>
        </p:nvSpPr>
        <p:spPr>
          <a:xfrm>
            <a:off x="1266840" y="3572640"/>
            <a:ext cx="264276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334155"/>
                </a:solidFill>
                <a:uFillTx/>
                <a:latin typeface="Inter"/>
                <a:ea typeface="Inter"/>
              </a:rPr>
              <a:t>Dispersed web search results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9" name="Google Shape;204;p17"/>
          <p:cNvSpPr/>
          <p:nvPr/>
        </p:nvSpPr>
        <p:spPr>
          <a:xfrm>
            <a:off x="1266840" y="3877560"/>
            <a:ext cx="321444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334155"/>
                </a:solidFill>
                <a:uFillTx/>
                <a:latin typeface="Inter"/>
                <a:ea typeface="Inter"/>
              </a:rPr>
              <a:t>Manually prepared practice quizzes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0" name="Google Shape;205;p17"/>
          <p:cNvSpPr/>
          <p:nvPr/>
        </p:nvSpPr>
        <p:spPr>
          <a:xfrm>
            <a:off x="1266840" y="4182480"/>
            <a:ext cx="301176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334155"/>
                </a:solidFill>
                <a:uFillTx/>
                <a:latin typeface="Inter"/>
                <a:ea typeface="Inter"/>
              </a:rPr>
              <a:t>Generic, unpersonalized curricula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1" name="Google Shape;206;p17"/>
          <p:cNvSpPr/>
          <p:nvPr/>
        </p:nvSpPr>
        <p:spPr>
          <a:xfrm>
            <a:off x="6848640" y="3268080"/>
            <a:ext cx="420264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7f1d1d"/>
                </a:solidFill>
                <a:uFillTx/>
                <a:latin typeface="Inter"/>
                <a:ea typeface="Inter"/>
              </a:rPr>
              <a:t>Minimal personalization for struggling students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2" name="Google Shape;207;p17"/>
          <p:cNvSpPr/>
          <p:nvPr/>
        </p:nvSpPr>
        <p:spPr>
          <a:xfrm>
            <a:off x="6848640" y="3572640"/>
            <a:ext cx="386928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7f1d1d"/>
                </a:solidFill>
                <a:uFillTx/>
                <a:latin typeface="Inter"/>
                <a:ea typeface="Inter"/>
              </a:rPr>
              <a:t>Time-consuming preparation and synthesis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3" name="Google Shape;208;p17"/>
          <p:cNvSpPr/>
          <p:nvPr/>
        </p:nvSpPr>
        <p:spPr>
          <a:xfrm>
            <a:off x="6848640" y="3877560"/>
            <a:ext cx="382140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7f1d1d"/>
                </a:solidFill>
                <a:uFillTx/>
                <a:latin typeface="Inter"/>
                <a:ea typeface="Inter"/>
              </a:rPr>
              <a:t>Fragmented across multiple separate tools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4" name="Google Shape;209;p17"/>
          <p:cNvSpPr/>
          <p:nvPr/>
        </p:nvSpPr>
        <p:spPr>
          <a:xfrm>
            <a:off x="6848640" y="4182480"/>
            <a:ext cx="316656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7f1d1d"/>
                </a:solidFill>
                <a:uFillTx/>
                <a:latin typeface="Inter"/>
                <a:ea typeface="Inter"/>
              </a:rPr>
              <a:t>Lack of active interactive feedback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214;p18"/>
          <p:cNvSpPr/>
          <p:nvPr/>
        </p:nvSpPr>
        <p:spPr>
          <a:xfrm>
            <a:off x="685800" y="6000840"/>
            <a:ext cx="1082016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116" name="Google Shape;215;p18"/>
          <p:cNvSpPr/>
          <p:nvPr/>
        </p:nvSpPr>
        <p:spPr>
          <a:xfrm>
            <a:off x="685800" y="2396520"/>
            <a:ext cx="10820160" cy="1485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117" name="Google Shape;216;p18"/>
          <p:cNvSpPr/>
          <p:nvPr/>
        </p:nvSpPr>
        <p:spPr>
          <a:xfrm>
            <a:off x="685800" y="4110840"/>
            <a:ext cx="10820160" cy="676080"/>
          </a:xfrm>
          <a:prstGeom prst="roundRect">
            <a:avLst>
              <a:gd name="adj" fmla="val 16901"/>
            </a:avLst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118" name="Google Shape;217;p18"/>
          <p:cNvSpPr/>
          <p:nvPr/>
        </p:nvSpPr>
        <p:spPr>
          <a:xfrm>
            <a:off x="685800" y="6000840"/>
            <a:ext cx="1082016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pic>
        <p:nvPicPr>
          <p:cNvPr id="119" name="Google Shape;218;p18" descr="image.png"/>
          <p:cNvPicPr/>
          <p:nvPr/>
        </p:nvPicPr>
        <p:blipFill>
          <a:blip r:embed="rId1"/>
          <a:stretch/>
        </p:blipFill>
        <p:spPr>
          <a:xfrm>
            <a:off x="3419640" y="3044160"/>
            <a:ext cx="171000" cy="190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0" name="Google Shape;219;p18" descr="image.png"/>
          <p:cNvPicPr/>
          <p:nvPr/>
        </p:nvPicPr>
        <p:blipFill>
          <a:blip r:embed="rId2"/>
          <a:stretch/>
        </p:blipFill>
        <p:spPr>
          <a:xfrm>
            <a:off x="6010200" y="3044160"/>
            <a:ext cx="171000" cy="190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1" name="Google Shape;220;p18" descr="image.png"/>
          <p:cNvPicPr/>
          <p:nvPr/>
        </p:nvPicPr>
        <p:blipFill>
          <a:blip r:embed="rId3"/>
          <a:stretch/>
        </p:blipFill>
        <p:spPr>
          <a:xfrm>
            <a:off x="8601120" y="3044160"/>
            <a:ext cx="171000" cy="190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2" name="Google Shape;221;p18" descr="image.png"/>
          <p:cNvPicPr/>
          <p:nvPr/>
        </p:nvPicPr>
        <p:blipFill>
          <a:blip r:embed="rId4"/>
          <a:stretch/>
        </p:blipFill>
        <p:spPr>
          <a:xfrm>
            <a:off x="1962000" y="2634480"/>
            <a:ext cx="495000" cy="495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3" name="Google Shape;222;p18" descr="image.png"/>
          <p:cNvPicPr/>
          <p:nvPr/>
        </p:nvPicPr>
        <p:blipFill>
          <a:blip r:embed="rId5"/>
          <a:stretch/>
        </p:blipFill>
        <p:spPr>
          <a:xfrm>
            <a:off x="4552920" y="2634480"/>
            <a:ext cx="495000" cy="495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4" name="Google Shape;223;p18" descr="image.png"/>
          <p:cNvPicPr/>
          <p:nvPr/>
        </p:nvPicPr>
        <p:blipFill>
          <a:blip r:embed="rId6"/>
          <a:stretch/>
        </p:blipFill>
        <p:spPr>
          <a:xfrm>
            <a:off x="7143840" y="2634480"/>
            <a:ext cx="495000" cy="495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5" name="Google Shape;224;p18" descr="image.png"/>
          <p:cNvPicPr/>
          <p:nvPr/>
        </p:nvPicPr>
        <p:blipFill>
          <a:blip r:embed="rId7"/>
          <a:stretch/>
        </p:blipFill>
        <p:spPr>
          <a:xfrm>
            <a:off x="9734400" y="2634480"/>
            <a:ext cx="495000" cy="495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6" name="Google Shape;225;p18" descr="image.png"/>
          <p:cNvPicPr/>
          <p:nvPr/>
        </p:nvPicPr>
        <p:blipFill>
          <a:blip r:embed="rId8"/>
          <a:stretch/>
        </p:blipFill>
        <p:spPr>
          <a:xfrm>
            <a:off x="2119320" y="2777400"/>
            <a:ext cx="180720" cy="209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7" name="Google Shape;226;p18" descr="image.png"/>
          <p:cNvPicPr/>
          <p:nvPr/>
        </p:nvPicPr>
        <p:blipFill>
          <a:blip r:embed="rId9"/>
          <a:stretch/>
        </p:blipFill>
        <p:spPr>
          <a:xfrm>
            <a:off x="4695840" y="2777400"/>
            <a:ext cx="209160" cy="209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8" name="Google Shape;227;p18" descr="image.png"/>
          <p:cNvPicPr/>
          <p:nvPr/>
        </p:nvPicPr>
        <p:blipFill>
          <a:blip r:embed="rId10"/>
          <a:stretch/>
        </p:blipFill>
        <p:spPr>
          <a:xfrm>
            <a:off x="7272360" y="2777400"/>
            <a:ext cx="237600" cy="209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9" name="Google Shape;228;p18" descr="image.png"/>
          <p:cNvPicPr/>
          <p:nvPr/>
        </p:nvPicPr>
        <p:blipFill>
          <a:blip r:embed="rId11"/>
          <a:stretch/>
        </p:blipFill>
        <p:spPr>
          <a:xfrm>
            <a:off x="9891720" y="2777400"/>
            <a:ext cx="180720" cy="209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0" name="Google Shape;229;p18"/>
          <p:cNvSpPr/>
          <p:nvPr/>
        </p:nvSpPr>
        <p:spPr>
          <a:xfrm>
            <a:off x="685800" y="533520"/>
            <a:ext cx="1150596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2563eb"/>
                </a:solidFill>
                <a:uFillTx/>
                <a:latin typeface="Inter"/>
                <a:ea typeface="Inter"/>
              </a:rPr>
              <a:t>THE EDUGENIE APPROACH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1" name="Google Shape;230;p18"/>
          <p:cNvSpPr/>
          <p:nvPr/>
        </p:nvSpPr>
        <p:spPr>
          <a:xfrm>
            <a:off x="685800" y="771480"/>
            <a:ext cx="1150596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1" lang="en-US" sz="2700" strike="noStrike" u="none">
                <a:solidFill>
                  <a:srgbClr val="0f172a"/>
                </a:solidFill>
                <a:uFillTx/>
                <a:latin typeface="Plus Jakarta Sans"/>
                <a:ea typeface="Plus Jakarta Sans"/>
              </a:rPr>
              <a:t>Proposed System</a:t>
            </a:r>
            <a:endParaRPr b="0" lang="en-US" sz="2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2" name="Google Shape;231;p18"/>
          <p:cNvSpPr/>
          <p:nvPr/>
        </p:nvSpPr>
        <p:spPr>
          <a:xfrm>
            <a:off x="685800" y="6162840"/>
            <a:ext cx="220212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4748b"/>
                </a:solidFill>
                <a:uFillTx/>
                <a:latin typeface="Inter"/>
                <a:ea typeface="Inter"/>
              </a:rPr>
              <a:t>EduGenie Architecture Deck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3" name="Google Shape;232;p18"/>
          <p:cNvSpPr/>
          <p:nvPr/>
        </p:nvSpPr>
        <p:spPr>
          <a:xfrm>
            <a:off x="10991880" y="6162840"/>
            <a:ext cx="79992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4748b"/>
                </a:solidFill>
                <a:uFillTx/>
                <a:latin typeface="Inter"/>
                <a:ea typeface="Inter"/>
              </a:rPr>
              <a:t>Slide 06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4" name="Google Shape;233;p18"/>
          <p:cNvSpPr/>
          <p:nvPr/>
        </p:nvSpPr>
        <p:spPr>
          <a:xfrm>
            <a:off x="-136800" y="4349160"/>
            <a:ext cx="1246536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1e293b"/>
                </a:solidFill>
                <a:uFillTx/>
                <a:latin typeface="Inter"/>
                <a:ea typeface="Inter"/>
              </a:rPr>
              <a:t>Combines multiple AI-powered learning functions into a single centralized web application.</a:t>
            </a:r>
            <a:endParaRPr b="0" lang="en-US" sz="13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5" name="Google Shape;234;p18"/>
          <p:cNvSpPr/>
          <p:nvPr/>
        </p:nvSpPr>
        <p:spPr>
          <a:xfrm>
            <a:off x="697680" y="3244320"/>
            <a:ext cx="302400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0f172a"/>
                </a:solidFill>
                <a:uFillTx/>
                <a:latin typeface="Inter"/>
                <a:ea typeface="Inter"/>
              </a:rPr>
              <a:t>Student</a:t>
            </a:r>
            <a:endParaRPr b="0" lang="en-US" sz="13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6" name="Google Shape;235;p18"/>
          <p:cNvSpPr/>
          <p:nvPr/>
        </p:nvSpPr>
        <p:spPr>
          <a:xfrm>
            <a:off x="697680" y="3482280"/>
            <a:ext cx="302400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4748b"/>
                </a:solidFill>
                <a:uFillTx/>
                <a:latin typeface="Inter"/>
                <a:ea typeface="Inter"/>
              </a:rPr>
              <a:t>Inputs query or text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7" name="Google Shape;236;p18"/>
          <p:cNvSpPr/>
          <p:nvPr/>
        </p:nvSpPr>
        <p:spPr>
          <a:xfrm>
            <a:off x="3288600" y="3244320"/>
            <a:ext cx="302400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0f172a"/>
                </a:solidFill>
                <a:uFillTx/>
                <a:latin typeface="Inter"/>
                <a:ea typeface="Inter"/>
              </a:rPr>
              <a:t>EduGenie</a:t>
            </a:r>
            <a:endParaRPr b="0" lang="en-US" sz="13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8" name="Google Shape;237;p18"/>
          <p:cNvSpPr/>
          <p:nvPr/>
        </p:nvSpPr>
        <p:spPr>
          <a:xfrm>
            <a:off x="3288600" y="3482280"/>
            <a:ext cx="302400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4748b"/>
                </a:solidFill>
                <a:uFillTx/>
                <a:latin typeface="Inter"/>
                <a:ea typeface="Inter"/>
              </a:rPr>
              <a:t>Unified React portal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9" name="Google Shape;238;p18"/>
          <p:cNvSpPr/>
          <p:nvPr/>
        </p:nvSpPr>
        <p:spPr>
          <a:xfrm>
            <a:off x="5879160" y="3244320"/>
            <a:ext cx="302400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0f172a"/>
                </a:solidFill>
                <a:uFillTx/>
                <a:latin typeface="Inter"/>
                <a:ea typeface="Inter"/>
              </a:rPr>
              <a:t>AI Processing</a:t>
            </a:r>
            <a:endParaRPr b="0" lang="en-US" sz="13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0" name="Google Shape;239;p18"/>
          <p:cNvSpPr/>
          <p:nvPr/>
        </p:nvSpPr>
        <p:spPr>
          <a:xfrm>
            <a:off x="5879160" y="3482280"/>
            <a:ext cx="302400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4748b"/>
                </a:solidFill>
                <a:uFillTx/>
                <a:latin typeface="Inter"/>
                <a:ea typeface="Inter"/>
              </a:rPr>
              <a:t>Google Gemini LLM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1" name="Google Shape;240;p18"/>
          <p:cNvSpPr/>
          <p:nvPr/>
        </p:nvSpPr>
        <p:spPr>
          <a:xfrm>
            <a:off x="8470080" y="3244320"/>
            <a:ext cx="302400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0f172a"/>
                </a:solidFill>
                <a:uFillTx/>
                <a:latin typeface="Inter"/>
                <a:ea typeface="Inter"/>
              </a:rPr>
              <a:t>Educational Output</a:t>
            </a:r>
            <a:endParaRPr b="0" lang="en-US" sz="13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2" name="Google Shape;241;p18"/>
          <p:cNvSpPr/>
          <p:nvPr/>
        </p:nvSpPr>
        <p:spPr>
          <a:xfrm>
            <a:off x="8470080" y="3482280"/>
            <a:ext cx="302400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4748b"/>
                </a:solidFill>
                <a:uFillTx/>
                <a:latin typeface="Inter"/>
                <a:ea typeface="Inter"/>
              </a:rPr>
              <a:t>Structured result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246;p19"/>
          <p:cNvSpPr/>
          <p:nvPr/>
        </p:nvSpPr>
        <p:spPr>
          <a:xfrm>
            <a:off x="685800" y="6000840"/>
            <a:ext cx="1082016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144" name="Google Shape;247;p19"/>
          <p:cNvSpPr/>
          <p:nvPr/>
        </p:nvSpPr>
        <p:spPr>
          <a:xfrm>
            <a:off x="685800" y="2948760"/>
            <a:ext cx="2041920" cy="1285560"/>
          </a:xfrm>
          <a:prstGeom prst="roundRect">
            <a:avLst>
              <a:gd name="adj" fmla="val 8888"/>
            </a:avLst>
          </a:prstGeom>
          <a:solidFill>
            <a:srgbClr val="f8fafc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145" name="Google Shape;248;p19"/>
          <p:cNvSpPr/>
          <p:nvPr/>
        </p:nvSpPr>
        <p:spPr>
          <a:xfrm>
            <a:off x="2880360" y="2948760"/>
            <a:ext cx="2041920" cy="1285560"/>
          </a:xfrm>
          <a:prstGeom prst="roundRect">
            <a:avLst>
              <a:gd name="adj" fmla="val 8888"/>
            </a:avLst>
          </a:prstGeom>
          <a:solidFill>
            <a:srgbClr val="f8fafc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146" name="Google Shape;249;p19"/>
          <p:cNvSpPr/>
          <p:nvPr/>
        </p:nvSpPr>
        <p:spPr>
          <a:xfrm>
            <a:off x="5074920" y="2948760"/>
            <a:ext cx="2041920" cy="1285560"/>
          </a:xfrm>
          <a:prstGeom prst="roundRect">
            <a:avLst>
              <a:gd name="adj" fmla="val 8888"/>
            </a:avLst>
          </a:prstGeom>
          <a:solidFill>
            <a:srgbClr val="f8fafc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147" name="Google Shape;250;p19"/>
          <p:cNvSpPr/>
          <p:nvPr/>
        </p:nvSpPr>
        <p:spPr>
          <a:xfrm>
            <a:off x="7269480" y="2948760"/>
            <a:ext cx="2041920" cy="1285560"/>
          </a:xfrm>
          <a:prstGeom prst="roundRect">
            <a:avLst>
              <a:gd name="adj" fmla="val 8888"/>
            </a:avLst>
          </a:prstGeom>
          <a:solidFill>
            <a:srgbClr val="f8fafc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148" name="Google Shape;251;p19"/>
          <p:cNvSpPr/>
          <p:nvPr/>
        </p:nvSpPr>
        <p:spPr>
          <a:xfrm>
            <a:off x="9464400" y="2948760"/>
            <a:ext cx="2041920" cy="1285560"/>
          </a:xfrm>
          <a:prstGeom prst="roundRect">
            <a:avLst>
              <a:gd name="adj" fmla="val 8888"/>
            </a:avLst>
          </a:prstGeom>
          <a:solidFill>
            <a:srgbClr val="f8fafc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149" name="Google Shape;252;p19"/>
          <p:cNvSpPr/>
          <p:nvPr/>
        </p:nvSpPr>
        <p:spPr>
          <a:xfrm>
            <a:off x="685800" y="6000840"/>
            <a:ext cx="1082016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pic>
        <p:nvPicPr>
          <p:cNvPr id="150" name="Google Shape;253;p19" descr="image.png"/>
          <p:cNvPicPr/>
          <p:nvPr/>
        </p:nvPicPr>
        <p:blipFill>
          <a:blip r:embed="rId1"/>
          <a:stretch/>
        </p:blipFill>
        <p:spPr>
          <a:xfrm>
            <a:off x="1573560" y="3187080"/>
            <a:ext cx="266400" cy="266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1" name="Google Shape;254;p19" descr="image.png"/>
          <p:cNvPicPr/>
          <p:nvPr/>
        </p:nvPicPr>
        <p:blipFill>
          <a:blip r:embed="rId2"/>
          <a:stretch/>
        </p:blipFill>
        <p:spPr>
          <a:xfrm>
            <a:off x="3801600" y="3187080"/>
            <a:ext cx="199800" cy="266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2" name="Google Shape;255;p19" descr="image.png"/>
          <p:cNvPicPr/>
          <p:nvPr/>
        </p:nvPicPr>
        <p:blipFill>
          <a:blip r:embed="rId3"/>
          <a:stretch/>
        </p:blipFill>
        <p:spPr>
          <a:xfrm>
            <a:off x="5962680" y="3187080"/>
            <a:ext cx="266400" cy="266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3" name="Google Shape;256;p19" descr="image.png"/>
          <p:cNvPicPr/>
          <p:nvPr/>
        </p:nvPicPr>
        <p:blipFill>
          <a:blip r:embed="rId4"/>
          <a:stretch/>
        </p:blipFill>
        <p:spPr>
          <a:xfrm>
            <a:off x="8190720" y="3187080"/>
            <a:ext cx="199800" cy="266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4" name="Google Shape;257;p19" descr="image.png"/>
          <p:cNvPicPr/>
          <p:nvPr/>
        </p:nvPicPr>
        <p:blipFill>
          <a:blip r:embed="rId5"/>
          <a:stretch/>
        </p:blipFill>
        <p:spPr>
          <a:xfrm>
            <a:off x="10352160" y="3187080"/>
            <a:ext cx="266400" cy="26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5" name="Google Shape;258;p19"/>
          <p:cNvSpPr/>
          <p:nvPr/>
        </p:nvSpPr>
        <p:spPr>
          <a:xfrm>
            <a:off x="685800" y="533520"/>
            <a:ext cx="1150596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2563eb"/>
                </a:solidFill>
                <a:uFillTx/>
                <a:latin typeface="Inter"/>
                <a:ea typeface="Inter"/>
              </a:rPr>
              <a:t>PLATFORM CAPABILITIES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6" name="Google Shape;259;p19"/>
          <p:cNvSpPr/>
          <p:nvPr/>
        </p:nvSpPr>
        <p:spPr>
          <a:xfrm>
            <a:off x="685800" y="771480"/>
            <a:ext cx="1150596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1" lang="en-US" sz="2700" strike="noStrike" u="none">
                <a:solidFill>
                  <a:srgbClr val="0f172a"/>
                </a:solidFill>
                <a:uFillTx/>
                <a:latin typeface="Plus Jakarta Sans"/>
                <a:ea typeface="Plus Jakarta Sans"/>
              </a:rPr>
              <a:t>Key Features</a:t>
            </a:r>
            <a:endParaRPr b="0" lang="en-US" sz="2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7" name="Google Shape;260;p19"/>
          <p:cNvSpPr/>
          <p:nvPr/>
        </p:nvSpPr>
        <p:spPr>
          <a:xfrm>
            <a:off x="685800" y="6162840"/>
            <a:ext cx="220212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4748b"/>
                </a:solidFill>
                <a:uFillTx/>
                <a:latin typeface="Inter"/>
                <a:ea typeface="Inter"/>
              </a:rPr>
              <a:t>EduGenie Architecture Deck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8" name="Google Shape;261;p19"/>
          <p:cNvSpPr/>
          <p:nvPr/>
        </p:nvSpPr>
        <p:spPr>
          <a:xfrm>
            <a:off x="11001240" y="6162840"/>
            <a:ext cx="79020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4748b"/>
                </a:solidFill>
                <a:uFillTx/>
                <a:latin typeface="Inter"/>
                <a:ea typeface="Inter"/>
              </a:rPr>
              <a:t>Slide 07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9" name="Google Shape;262;p19"/>
          <p:cNvSpPr/>
          <p:nvPr/>
        </p:nvSpPr>
        <p:spPr>
          <a:xfrm>
            <a:off x="604080" y="3567960"/>
            <a:ext cx="2205000" cy="19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80" strike="noStrike" u="none">
                <a:solidFill>
                  <a:srgbClr val="0f172a"/>
                </a:solidFill>
                <a:uFillTx/>
                <a:latin typeface="Plus Jakarta Sans"/>
                <a:ea typeface="Plus Jakarta Sans"/>
              </a:rPr>
              <a:t>AI Q&amp;A</a:t>
            </a:r>
            <a:endParaRPr b="0" lang="en-US" sz="128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0" name="Google Shape;263;p19"/>
          <p:cNvSpPr/>
          <p:nvPr/>
        </p:nvSpPr>
        <p:spPr>
          <a:xfrm>
            <a:off x="656640" y="3834720"/>
            <a:ext cx="209988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4748b"/>
                </a:solidFill>
                <a:uFillTx/>
                <a:latin typeface="Inter"/>
                <a:ea typeface="Inter"/>
              </a:rPr>
              <a:t>Clear academic answers.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1" name="Google Shape;264;p19"/>
          <p:cNvSpPr/>
          <p:nvPr/>
        </p:nvSpPr>
        <p:spPr>
          <a:xfrm>
            <a:off x="2799000" y="3567960"/>
            <a:ext cx="2205000" cy="19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80" strike="noStrike" u="none">
                <a:solidFill>
                  <a:srgbClr val="0f172a"/>
                </a:solidFill>
                <a:uFillTx/>
                <a:latin typeface="Plus Jakarta Sans"/>
                <a:ea typeface="Plus Jakarta Sans"/>
              </a:rPr>
              <a:t>AI Explain</a:t>
            </a:r>
            <a:endParaRPr b="0" lang="en-US" sz="128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2" name="Google Shape;265;p19"/>
          <p:cNvSpPr/>
          <p:nvPr/>
        </p:nvSpPr>
        <p:spPr>
          <a:xfrm>
            <a:off x="2851200" y="3834720"/>
            <a:ext cx="209988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4748b"/>
                </a:solidFill>
                <a:uFillTx/>
                <a:latin typeface="Inter"/>
                <a:ea typeface="Inter"/>
              </a:rPr>
              <a:t>Simplifies complex topics.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3" name="Google Shape;266;p19"/>
          <p:cNvSpPr/>
          <p:nvPr/>
        </p:nvSpPr>
        <p:spPr>
          <a:xfrm>
            <a:off x="4993560" y="3567960"/>
            <a:ext cx="2205000" cy="19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80" strike="noStrike" u="none">
                <a:solidFill>
                  <a:srgbClr val="0f172a"/>
                </a:solidFill>
                <a:uFillTx/>
                <a:latin typeface="Plus Jakarta Sans"/>
                <a:ea typeface="Plus Jakarta Sans"/>
              </a:rPr>
              <a:t>AI Quiz</a:t>
            </a:r>
            <a:endParaRPr b="0" lang="en-US" sz="128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4" name="Google Shape;267;p19"/>
          <p:cNvSpPr/>
          <p:nvPr/>
        </p:nvSpPr>
        <p:spPr>
          <a:xfrm>
            <a:off x="5046120" y="3834720"/>
            <a:ext cx="209988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4748b"/>
                </a:solidFill>
                <a:uFillTx/>
                <a:latin typeface="Inter"/>
                <a:ea typeface="Inter"/>
              </a:rPr>
              <a:t>Evaluates understanding.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5" name="Google Shape;268;p19"/>
          <p:cNvSpPr/>
          <p:nvPr/>
        </p:nvSpPr>
        <p:spPr>
          <a:xfrm>
            <a:off x="7188120" y="3567960"/>
            <a:ext cx="2205000" cy="19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80" strike="noStrike" u="none">
                <a:solidFill>
                  <a:srgbClr val="0f172a"/>
                </a:solidFill>
                <a:uFillTx/>
                <a:latin typeface="Plus Jakarta Sans"/>
                <a:ea typeface="Plus Jakarta Sans"/>
              </a:rPr>
              <a:t>Summarizer</a:t>
            </a:r>
            <a:endParaRPr b="0" lang="en-US" sz="128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6" name="Google Shape;269;p19"/>
          <p:cNvSpPr/>
          <p:nvPr/>
        </p:nvSpPr>
        <p:spPr>
          <a:xfrm>
            <a:off x="7240680" y="3834720"/>
            <a:ext cx="209988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4748b"/>
                </a:solidFill>
                <a:uFillTx/>
                <a:latin typeface="Inter"/>
                <a:ea typeface="Inter"/>
              </a:rPr>
              <a:t>Condenses study notes.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7" name="Google Shape;270;p19"/>
          <p:cNvSpPr/>
          <p:nvPr/>
        </p:nvSpPr>
        <p:spPr>
          <a:xfrm>
            <a:off x="9382680" y="3567960"/>
            <a:ext cx="2205000" cy="19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80" strike="noStrike" u="none">
                <a:solidFill>
                  <a:srgbClr val="0f172a"/>
                </a:solidFill>
                <a:uFillTx/>
                <a:latin typeface="Plus Jakarta Sans"/>
                <a:ea typeface="Plus Jakarta Sans"/>
              </a:rPr>
              <a:t>Learning Path</a:t>
            </a:r>
            <a:endParaRPr b="0" lang="en-US" sz="128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8" name="Google Shape;271;p19"/>
          <p:cNvSpPr/>
          <p:nvPr/>
        </p:nvSpPr>
        <p:spPr>
          <a:xfrm>
            <a:off x="9435240" y="3834720"/>
            <a:ext cx="209988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4748b"/>
                </a:solidFill>
                <a:uFillTx/>
                <a:latin typeface="Inter"/>
                <a:ea typeface="Inter"/>
              </a:rPr>
              <a:t>Structured topic guide.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276;p20"/>
          <p:cNvSpPr/>
          <p:nvPr/>
        </p:nvSpPr>
        <p:spPr>
          <a:xfrm>
            <a:off x="685800" y="6000840"/>
            <a:ext cx="1082016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170" name="Google Shape;277;p20"/>
          <p:cNvSpPr/>
          <p:nvPr/>
        </p:nvSpPr>
        <p:spPr>
          <a:xfrm>
            <a:off x="685800" y="6000840"/>
            <a:ext cx="1082016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171" name="Google Shape;278;p20"/>
          <p:cNvSpPr/>
          <p:nvPr/>
        </p:nvSpPr>
        <p:spPr>
          <a:xfrm>
            <a:off x="685800" y="2220120"/>
            <a:ext cx="1714320" cy="456840"/>
          </a:xfrm>
          <a:prstGeom prst="roundRect">
            <a:avLst>
              <a:gd name="adj" fmla="val 16666"/>
            </a:avLst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172" name="Google Shape;279;p20"/>
          <p:cNvSpPr/>
          <p:nvPr/>
        </p:nvSpPr>
        <p:spPr>
          <a:xfrm>
            <a:off x="685800" y="2791800"/>
            <a:ext cx="1714320" cy="456840"/>
          </a:xfrm>
          <a:prstGeom prst="roundRect">
            <a:avLst>
              <a:gd name="adj" fmla="val 16666"/>
            </a:avLst>
          </a:prstGeom>
          <a:solidFill>
            <a:srgbClr val="2563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173" name="Google Shape;280;p20"/>
          <p:cNvSpPr/>
          <p:nvPr/>
        </p:nvSpPr>
        <p:spPr>
          <a:xfrm>
            <a:off x="685800" y="3363120"/>
            <a:ext cx="1714320" cy="456840"/>
          </a:xfrm>
          <a:prstGeom prst="roundRect">
            <a:avLst>
              <a:gd name="adj" fmla="val 16666"/>
            </a:avLst>
          </a:prstGeom>
          <a:solidFill>
            <a:srgbClr val="0284c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174" name="Google Shape;281;p20"/>
          <p:cNvSpPr/>
          <p:nvPr/>
        </p:nvSpPr>
        <p:spPr>
          <a:xfrm>
            <a:off x="685800" y="3934800"/>
            <a:ext cx="1714320" cy="456840"/>
          </a:xfrm>
          <a:prstGeom prst="roundRect">
            <a:avLst>
              <a:gd name="adj" fmla="val 16666"/>
            </a:avLst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175" name="Google Shape;282;p20"/>
          <p:cNvSpPr/>
          <p:nvPr/>
        </p:nvSpPr>
        <p:spPr>
          <a:xfrm>
            <a:off x="685800" y="4506120"/>
            <a:ext cx="1714320" cy="456840"/>
          </a:xfrm>
          <a:prstGeom prst="roundRect">
            <a:avLst>
              <a:gd name="adj" fmla="val 16666"/>
            </a:avLst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176" name="Google Shape;283;p20"/>
          <p:cNvSpPr/>
          <p:nvPr/>
        </p:nvSpPr>
        <p:spPr>
          <a:xfrm>
            <a:off x="685800" y="533520"/>
            <a:ext cx="1150596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2563eb"/>
                </a:solidFill>
                <a:uFillTx/>
                <a:latin typeface="Inter"/>
                <a:ea typeface="Inter"/>
              </a:rPr>
              <a:t>SOFTWARE ENGINEERING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7" name="Google Shape;284;p20"/>
          <p:cNvSpPr/>
          <p:nvPr/>
        </p:nvSpPr>
        <p:spPr>
          <a:xfrm>
            <a:off x="685800" y="771480"/>
            <a:ext cx="1150596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1" lang="en-US" sz="2700" strike="noStrike" u="none">
                <a:solidFill>
                  <a:srgbClr val="0f172a"/>
                </a:solidFill>
                <a:uFillTx/>
                <a:latin typeface="Plus Jakarta Sans"/>
                <a:ea typeface="Plus Jakarta Sans"/>
              </a:rPr>
              <a:t>System Architecture</a:t>
            </a:r>
            <a:endParaRPr b="0" lang="en-US" sz="2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8" name="Google Shape;285;p20"/>
          <p:cNvSpPr/>
          <p:nvPr/>
        </p:nvSpPr>
        <p:spPr>
          <a:xfrm>
            <a:off x="685800" y="6162840"/>
            <a:ext cx="220212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4748b"/>
                </a:solidFill>
                <a:uFillTx/>
                <a:latin typeface="Inter"/>
                <a:ea typeface="Inter"/>
              </a:rPr>
              <a:t>EduGenie Architecture Deck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9" name="Google Shape;286;p20"/>
          <p:cNvSpPr/>
          <p:nvPr/>
        </p:nvSpPr>
        <p:spPr>
          <a:xfrm>
            <a:off x="10991880" y="6162840"/>
            <a:ext cx="79992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4748b"/>
                </a:solidFill>
                <a:uFillTx/>
                <a:latin typeface="Inter"/>
                <a:ea typeface="Inter"/>
              </a:rPr>
              <a:t>Slide 08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0" name="Google Shape;287;p20"/>
          <p:cNvSpPr/>
          <p:nvPr/>
        </p:nvSpPr>
        <p:spPr>
          <a:xfrm>
            <a:off x="2552760" y="2353680"/>
            <a:ext cx="4619160" cy="1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80" strike="noStrike" u="none">
                <a:solidFill>
                  <a:srgbClr val="334155"/>
                </a:solidFill>
                <a:uFillTx/>
                <a:latin typeface="Inter"/>
                <a:ea typeface="Inter"/>
              </a:rPr>
              <a:t>React-based user interface and state rendering.</a:t>
            </a:r>
            <a:endParaRPr b="0" lang="en-US" sz="128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1" name="Google Shape;288;p20"/>
          <p:cNvSpPr/>
          <p:nvPr/>
        </p:nvSpPr>
        <p:spPr>
          <a:xfrm>
            <a:off x="2552760" y="2925000"/>
            <a:ext cx="4178880" cy="1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80" strike="noStrike" u="none">
                <a:solidFill>
                  <a:srgbClr val="334155"/>
                </a:solidFill>
                <a:uFillTx/>
                <a:latin typeface="Inter"/>
                <a:ea typeface="Inter"/>
              </a:rPr>
              <a:t>Feature handling and client input validation.</a:t>
            </a:r>
            <a:endParaRPr b="0" lang="en-US" sz="128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2" name="Google Shape;289;p20"/>
          <p:cNvSpPr/>
          <p:nvPr/>
        </p:nvSpPr>
        <p:spPr>
          <a:xfrm>
            <a:off x="2552760" y="3496680"/>
            <a:ext cx="5440680" cy="1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80" strike="noStrike" u="none">
                <a:solidFill>
                  <a:srgbClr val="334155"/>
                </a:solidFill>
                <a:uFillTx/>
                <a:latin typeface="Inter"/>
                <a:ea typeface="Inter"/>
              </a:rPr>
              <a:t>Feature prompt creation and Gemini API communication.</a:t>
            </a:r>
            <a:endParaRPr b="0" lang="en-US" sz="128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3" name="Google Shape;290;p20"/>
          <p:cNvSpPr/>
          <p:nvPr/>
        </p:nvSpPr>
        <p:spPr>
          <a:xfrm>
            <a:off x="2552760" y="4068000"/>
            <a:ext cx="5952600" cy="1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80" strike="noStrike" u="none">
                <a:solidFill>
                  <a:srgbClr val="334155"/>
                </a:solidFill>
                <a:uFillTx/>
                <a:latin typeface="Inter"/>
                <a:ea typeface="Inter"/>
              </a:rPr>
              <a:t>Generative AI engine performing natural language processing.</a:t>
            </a:r>
            <a:endParaRPr b="0" lang="en-US" sz="128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4" name="Google Shape;291;p20"/>
          <p:cNvSpPr/>
          <p:nvPr/>
        </p:nvSpPr>
        <p:spPr>
          <a:xfrm>
            <a:off x="2552760" y="4639680"/>
            <a:ext cx="4190760" cy="1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80" strike="noStrike" u="none">
                <a:solidFill>
                  <a:srgbClr val="334155"/>
                </a:solidFill>
                <a:uFillTx/>
                <a:latin typeface="Inter"/>
                <a:ea typeface="Inter"/>
              </a:rPr>
              <a:t>Response validation and final UI formatting.</a:t>
            </a:r>
            <a:endParaRPr b="0" lang="en-US" sz="128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5" name="Google Shape;292;p20"/>
          <p:cNvSpPr/>
          <p:nvPr/>
        </p:nvSpPr>
        <p:spPr>
          <a:xfrm>
            <a:off x="709560" y="2353680"/>
            <a:ext cx="166644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uFillTx/>
                <a:latin typeface="Inter"/>
                <a:ea typeface="Inter"/>
              </a:rPr>
              <a:t>Frontend Layer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6" name="Google Shape;293;p20"/>
          <p:cNvSpPr/>
          <p:nvPr/>
        </p:nvSpPr>
        <p:spPr>
          <a:xfrm>
            <a:off x="709560" y="2925000"/>
            <a:ext cx="166644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uFillTx/>
                <a:latin typeface="Inter"/>
                <a:ea typeface="Inter"/>
              </a:rPr>
              <a:t>App Logic Layer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7" name="Google Shape;294;p20"/>
          <p:cNvSpPr/>
          <p:nvPr/>
        </p:nvSpPr>
        <p:spPr>
          <a:xfrm>
            <a:off x="709560" y="3496680"/>
            <a:ext cx="166644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uFillTx/>
                <a:latin typeface="Inter"/>
                <a:ea typeface="Inter"/>
              </a:rPr>
              <a:t>AI Service Layer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8" name="Google Shape;295;p20"/>
          <p:cNvSpPr/>
          <p:nvPr/>
        </p:nvSpPr>
        <p:spPr>
          <a:xfrm>
            <a:off x="709560" y="4068000"/>
            <a:ext cx="166644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uFillTx/>
                <a:latin typeface="Inter"/>
                <a:ea typeface="Inter"/>
              </a:rPr>
              <a:t>Google Gemini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9" name="Google Shape;296;p20"/>
          <p:cNvSpPr/>
          <p:nvPr/>
        </p:nvSpPr>
        <p:spPr>
          <a:xfrm>
            <a:off x="709560" y="4639680"/>
            <a:ext cx="166644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uFillTx/>
                <a:latin typeface="Inter"/>
                <a:ea typeface="Inter"/>
              </a:rPr>
              <a:t>Processing Layer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301;p21"/>
          <p:cNvSpPr/>
          <p:nvPr/>
        </p:nvSpPr>
        <p:spPr>
          <a:xfrm>
            <a:off x="685800" y="6000840"/>
            <a:ext cx="1082016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191" name="Google Shape;302;p21"/>
          <p:cNvSpPr/>
          <p:nvPr/>
        </p:nvSpPr>
        <p:spPr>
          <a:xfrm>
            <a:off x="685800" y="2487960"/>
            <a:ext cx="3454200" cy="2207520"/>
          </a:xfrm>
          <a:prstGeom prst="roundRect">
            <a:avLst>
              <a:gd name="adj" fmla="val 5177"/>
            </a:avLst>
          </a:prstGeom>
          <a:solidFill>
            <a:srgbClr val="f8fafc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192" name="Google Shape;303;p21"/>
          <p:cNvSpPr/>
          <p:nvPr/>
        </p:nvSpPr>
        <p:spPr>
          <a:xfrm>
            <a:off x="4368960" y="2487960"/>
            <a:ext cx="3454200" cy="2207520"/>
          </a:xfrm>
          <a:prstGeom prst="roundRect">
            <a:avLst>
              <a:gd name="adj" fmla="val 5177"/>
            </a:avLst>
          </a:prstGeom>
          <a:solidFill>
            <a:srgbClr val="f8fafc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193" name="Google Shape;304;p21"/>
          <p:cNvSpPr/>
          <p:nvPr/>
        </p:nvSpPr>
        <p:spPr>
          <a:xfrm>
            <a:off x="8051760" y="2487960"/>
            <a:ext cx="3454200" cy="2207520"/>
          </a:xfrm>
          <a:prstGeom prst="roundRect">
            <a:avLst>
              <a:gd name="adj" fmla="val 5177"/>
            </a:avLst>
          </a:prstGeom>
          <a:solidFill>
            <a:srgbClr val="f8fafc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194" name="Google Shape;305;p21"/>
          <p:cNvSpPr/>
          <p:nvPr/>
        </p:nvSpPr>
        <p:spPr>
          <a:xfrm>
            <a:off x="685800" y="6000840"/>
            <a:ext cx="1082016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pic>
        <p:nvPicPr>
          <p:cNvPr id="195" name="Google Shape;306;p21" descr="image.png"/>
          <p:cNvPicPr/>
          <p:nvPr/>
        </p:nvPicPr>
        <p:blipFill>
          <a:blip r:embed="rId1"/>
          <a:stretch/>
        </p:blipFill>
        <p:spPr>
          <a:xfrm>
            <a:off x="923760" y="2802240"/>
            <a:ext cx="342720" cy="342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6" name="Google Shape;307;p21" descr="image.png"/>
          <p:cNvPicPr/>
          <p:nvPr/>
        </p:nvPicPr>
        <p:blipFill>
          <a:blip r:embed="rId2"/>
          <a:stretch/>
        </p:blipFill>
        <p:spPr>
          <a:xfrm>
            <a:off x="4606920" y="2802240"/>
            <a:ext cx="342720" cy="342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7" name="Google Shape;308;p21" descr="image.png"/>
          <p:cNvPicPr/>
          <p:nvPr/>
        </p:nvPicPr>
        <p:blipFill>
          <a:blip r:embed="rId3"/>
          <a:stretch/>
        </p:blipFill>
        <p:spPr>
          <a:xfrm>
            <a:off x="8290080" y="2802240"/>
            <a:ext cx="428400" cy="34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8" name="Google Shape;309;p21"/>
          <p:cNvSpPr/>
          <p:nvPr/>
        </p:nvSpPr>
        <p:spPr>
          <a:xfrm>
            <a:off x="685800" y="533520"/>
            <a:ext cx="1150596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2563eb"/>
                </a:solidFill>
                <a:uFillTx/>
                <a:latin typeface="Inter"/>
                <a:ea typeface="Inter"/>
              </a:rPr>
              <a:t>TOOLING &amp; INFRASTRUCTURE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9" name="Google Shape;310;p21"/>
          <p:cNvSpPr/>
          <p:nvPr/>
        </p:nvSpPr>
        <p:spPr>
          <a:xfrm>
            <a:off x="685800" y="771480"/>
            <a:ext cx="1150596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1" lang="en-US" sz="2700" strike="noStrike" u="none">
                <a:solidFill>
                  <a:srgbClr val="0f172a"/>
                </a:solidFill>
                <a:uFillTx/>
                <a:latin typeface="Plus Jakarta Sans"/>
                <a:ea typeface="Plus Jakarta Sans"/>
              </a:rPr>
              <a:t>Technology Stack</a:t>
            </a:r>
            <a:endParaRPr b="0" lang="en-US" sz="2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0" name="Google Shape;311;p21"/>
          <p:cNvSpPr/>
          <p:nvPr/>
        </p:nvSpPr>
        <p:spPr>
          <a:xfrm>
            <a:off x="685800" y="6162840"/>
            <a:ext cx="220212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4748b"/>
                </a:solidFill>
                <a:uFillTx/>
                <a:latin typeface="Inter"/>
                <a:ea typeface="Inter"/>
              </a:rPr>
              <a:t>EduGenie Architecture Deck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1" name="Google Shape;312;p21"/>
          <p:cNvSpPr/>
          <p:nvPr/>
        </p:nvSpPr>
        <p:spPr>
          <a:xfrm>
            <a:off x="10991880" y="6162840"/>
            <a:ext cx="79992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4748b"/>
                </a:solidFill>
                <a:uFillTx/>
                <a:latin typeface="Inter"/>
                <a:ea typeface="Inter"/>
              </a:rPr>
              <a:t>Slide 09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2" name="Google Shape;313;p21"/>
          <p:cNvSpPr/>
          <p:nvPr/>
        </p:nvSpPr>
        <p:spPr>
          <a:xfrm>
            <a:off x="923760" y="3297600"/>
            <a:ext cx="390852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0f172a"/>
                </a:solidFill>
                <a:uFillTx/>
                <a:latin typeface="Plus Jakarta Sans"/>
                <a:ea typeface="Plus Jakarta Sans"/>
              </a:rPr>
              <a:t>Frontend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3" name="Google Shape;314;p21"/>
          <p:cNvSpPr/>
          <p:nvPr/>
        </p:nvSpPr>
        <p:spPr>
          <a:xfrm>
            <a:off x="923760" y="3650040"/>
            <a:ext cx="3072960" cy="58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6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334155"/>
                </a:solidFill>
                <a:uFillTx/>
                <a:latin typeface="Inter"/>
                <a:ea typeface="Inter"/>
              </a:rPr>
              <a:t>• </a:t>
            </a:r>
            <a:r>
              <a:rPr b="0" lang="en-US" sz="1200" strike="noStrike" u="none">
                <a:solidFill>
                  <a:srgbClr val="334155"/>
                </a:solidFill>
                <a:uFillTx/>
                <a:latin typeface="Inter"/>
                <a:ea typeface="Inter"/>
              </a:rPr>
              <a:t>React</a:t>
            </a:r>
            <a:br>
              <a:rPr sz="1800"/>
            </a:br>
            <a:r>
              <a:rPr b="0" lang="en-US" sz="1200" strike="noStrike" u="none">
                <a:solidFill>
                  <a:srgbClr val="334155"/>
                </a:solidFill>
                <a:uFillTx/>
                <a:latin typeface="Inter"/>
                <a:ea typeface="Inter"/>
              </a:rPr>
              <a:t> • JavaScript (ES6+)</a:t>
            </a:r>
            <a:br>
              <a:rPr sz="1800"/>
            </a:br>
            <a:r>
              <a:rPr b="0" lang="en-US" sz="1200" strike="noStrike" u="none">
                <a:solidFill>
                  <a:srgbClr val="334155"/>
                </a:solidFill>
                <a:uFillTx/>
                <a:latin typeface="Inter"/>
                <a:ea typeface="Inter"/>
              </a:rPr>
              <a:t> • HTML5 &amp; CSS3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4" name="Google Shape;315;p21"/>
          <p:cNvSpPr/>
          <p:nvPr/>
        </p:nvSpPr>
        <p:spPr>
          <a:xfrm>
            <a:off x="4606920" y="3297600"/>
            <a:ext cx="390852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0f172a"/>
                </a:solidFill>
                <a:uFillTx/>
                <a:latin typeface="Plus Jakarta Sans"/>
                <a:ea typeface="Plus Jakarta Sans"/>
              </a:rPr>
              <a:t>Artificial Intelligence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5" name="Google Shape;316;p21"/>
          <p:cNvSpPr/>
          <p:nvPr/>
        </p:nvSpPr>
        <p:spPr>
          <a:xfrm>
            <a:off x="4606920" y="3650040"/>
            <a:ext cx="3072960" cy="58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6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334155"/>
                </a:solidFill>
                <a:uFillTx/>
                <a:latin typeface="Inter"/>
                <a:ea typeface="Inter"/>
              </a:rPr>
              <a:t>• </a:t>
            </a:r>
            <a:r>
              <a:rPr b="0" lang="en-US" sz="1200" strike="noStrike" u="none">
                <a:solidFill>
                  <a:srgbClr val="334155"/>
                </a:solidFill>
                <a:uFillTx/>
                <a:latin typeface="Inter"/>
                <a:ea typeface="Inter"/>
              </a:rPr>
              <a:t>Google Gemini API</a:t>
            </a:r>
            <a:br>
              <a:rPr sz="1800"/>
            </a:br>
            <a:r>
              <a:rPr b="0" lang="en-US" sz="1200" strike="noStrike" u="none">
                <a:solidFill>
                  <a:srgbClr val="334155"/>
                </a:solidFill>
                <a:uFillTx/>
                <a:latin typeface="Inter"/>
                <a:ea typeface="Inter"/>
              </a:rPr>
              <a:t> • Generative AI</a:t>
            </a:r>
            <a:br>
              <a:rPr sz="1800"/>
            </a:br>
            <a:r>
              <a:rPr b="0" lang="en-US" sz="1200" strike="noStrike" u="none">
                <a:solidFill>
                  <a:srgbClr val="334155"/>
                </a:solidFill>
                <a:uFillTx/>
                <a:latin typeface="Inter"/>
                <a:ea typeface="Inter"/>
              </a:rPr>
              <a:t> • Prompt Engineering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6" name="Google Shape;317;p21"/>
          <p:cNvSpPr/>
          <p:nvPr/>
        </p:nvSpPr>
        <p:spPr>
          <a:xfrm>
            <a:off x="8290080" y="3297600"/>
            <a:ext cx="390168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0f172a"/>
                </a:solidFill>
                <a:uFillTx/>
                <a:latin typeface="Plus Jakarta Sans"/>
                <a:ea typeface="Plus Jakarta Sans"/>
              </a:rPr>
              <a:t>Development Platform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7" name="Google Shape;318;p21"/>
          <p:cNvSpPr/>
          <p:nvPr/>
        </p:nvSpPr>
        <p:spPr>
          <a:xfrm>
            <a:off x="8290080" y="3650040"/>
            <a:ext cx="3072960" cy="58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6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334155"/>
                </a:solidFill>
                <a:uFillTx/>
                <a:latin typeface="Inter"/>
                <a:ea typeface="Inter"/>
              </a:rPr>
              <a:t>• </a:t>
            </a:r>
            <a:r>
              <a:rPr b="0" lang="en-US" sz="1200" strike="noStrike" u="none">
                <a:solidFill>
                  <a:srgbClr val="334155"/>
                </a:solidFill>
                <a:uFillTx/>
                <a:latin typeface="Inter"/>
                <a:ea typeface="Inter"/>
              </a:rPr>
              <a:t>Google AI Studio</a:t>
            </a:r>
            <a:br>
              <a:rPr sz="1800"/>
            </a:br>
            <a:r>
              <a:rPr b="0" lang="en-US" sz="1200" strike="noStrike" u="none">
                <a:solidFill>
                  <a:srgbClr val="334155"/>
                </a:solidFill>
                <a:uFillTx/>
                <a:latin typeface="Inter"/>
                <a:ea typeface="Inter"/>
              </a:rPr>
              <a:t> • Node.js</a:t>
            </a:r>
            <a:br>
              <a:rPr sz="1800"/>
            </a:br>
            <a:r>
              <a:rPr b="0" lang="en-US" sz="1200" strike="noStrike" u="none">
                <a:solidFill>
                  <a:srgbClr val="334155"/>
                </a:solidFill>
                <a:uFillTx/>
                <a:latin typeface="Inter"/>
                <a:ea typeface="Inter"/>
              </a:rPr>
              <a:t> • npm package manager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323;p22"/>
          <p:cNvSpPr/>
          <p:nvPr/>
        </p:nvSpPr>
        <p:spPr>
          <a:xfrm>
            <a:off x="685800" y="6000840"/>
            <a:ext cx="1082016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209" name="Google Shape;324;p22"/>
          <p:cNvSpPr/>
          <p:nvPr/>
        </p:nvSpPr>
        <p:spPr>
          <a:xfrm>
            <a:off x="685800" y="2297520"/>
            <a:ext cx="5238360" cy="2588400"/>
          </a:xfrm>
          <a:prstGeom prst="roundRect">
            <a:avLst>
              <a:gd name="adj" fmla="val 4415"/>
            </a:avLst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210" name="Google Shape;325;p22"/>
          <p:cNvSpPr/>
          <p:nvPr/>
        </p:nvSpPr>
        <p:spPr>
          <a:xfrm>
            <a:off x="6267600" y="2571840"/>
            <a:ext cx="5238360" cy="2039760"/>
          </a:xfrm>
          <a:prstGeom prst="roundRect">
            <a:avLst>
              <a:gd name="adj" fmla="val 5602"/>
            </a:avLst>
          </a:prstGeom>
          <a:solidFill>
            <a:srgbClr val="eff6ff"/>
          </a:solidFill>
          <a:ln w="9525">
            <a:solidFill>
              <a:srgbClr val="dbea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211" name="Google Shape;326;p22"/>
          <p:cNvSpPr/>
          <p:nvPr/>
        </p:nvSpPr>
        <p:spPr>
          <a:xfrm>
            <a:off x="685800" y="6000840"/>
            <a:ext cx="1082016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212" name="Google Shape;327;p22"/>
          <p:cNvSpPr/>
          <p:nvPr/>
        </p:nvSpPr>
        <p:spPr>
          <a:xfrm>
            <a:off x="685800" y="533520"/>
            <a:ext cx="1150596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2563eb"/>
                </a:solidFill>
                <a:uFillTx/>
                <a:latin typeface="Inter"/>
                <a:ea typeface="Inter"/>
              </a:rPr>
              <a:t>DOUBT CLARIFICATION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3" name="Google Shape;328;p22"/>
          <p:cNvSpPr/>
          <p:nvPr/>
        </p:nvSpPr>
        <p:spPr>
          <a:xfrm>
            <a:off x="685800" y="771480"/>
            <a:ext cx="1150596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1" lang="en-US" sz="2700" strike="noStrike" u="none">
                <a:solidFill>
                  <a:srgbClr val="0f172a"/>
                </a:solidFill>
                <a:uFillTx/>
                <a:latin typeface="Plus Jakarta Sans"/>
                <a:ea typeface="Plus Jakarta Sans"/>
              </a:rPr>
              <a:t>AI Question &amp; Answer</a:t>
            </a:r>
            <a:endParaRPr b="0" lang="en-US" sz="2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4" name="Google Shape;329;p22"/>
          <p:cNvSpPr/>
          <p:nvPr/>
        </p:nvSpPr>
        <p:spPr>
          <a:xfrm>
            <a:off x="685800" y="6162840"/>
            <a:ext cx="220212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4748b"/>
                </a:solidFill>
                <a:uFillTx/>
                <a:latin typeface="Inter"/>
                <a:ea typeface="Inter"/>
              </a:rPr>
              <a:t>EduGenie Architecture Deck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5" name="Google Shape;330;p22"/>
          <p:cNvSpPr/>
          <p:nvPr/>
        </p:nvSpPr>
        <p:spPr>
          <a:xfrm>
            <a:off x="11020320" y="6162840"/>
            <a:ext cx="77112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4748b"/>
                </a:solidFill>
                <a:uFillTx/>
                <a:latin typeface="Inter"/>
                <a:ea typeface="Inter"/>
              </a:rPr>
              <a:t>Slide 10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6" name="Google Shape;331;p22"/>
          <p:cNvSpPr/>
          <p:nvPr/>
        </p:nvSpPr>
        <p:spPr>
          <a:xfrm>
            <a:off x="961920" y="2573640"/>
            <a:ext cx="615024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e293b"/>
                </a:solidFill>
                <a:uFillTx/>
                <a:latin typeface="Plus Jakarta Sans"/>
                <a:ea typeface="Plus Jakarta Sans"/>
              </a:rPr>
              <a:t>Execution Workflow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7" name="Google Shape;332;p22"/>
          <p:cNvSpPr/>
          <p:nvPr/>
        </p:nvSpPr>
        <p:spPr>
          <a:xfrm>
            <a:off x="961920" y="2964240"/>
            <a:ext cx="4781160" cy="131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475569"/>
                </a:solidFill>
                <a:uFillTx/>
                <a:latin typeface="Inter"/>
                <a:ea typeface="Inter"/>
              </a:rPr>
              <a:t>Student enters academic question</a:t>
            </a:r>
            <a:br>
              <a:rPr sz="1800"/>
            </a:br>
            <a:r>
              <a:rPr b="0" lang="en-US" sz="1200" strike="noStrike" u="none">
                <a:solidFill>
                  <a:srgbClr val="475569"/>
                </a:solidFill>
                <a:uFillTx/>
                <a:latin typeface="Inter"/>
                <a:ea typeface="Inter"/>
              </a:rPr>
              <a:t> ↓ Input validation check</a:t>
            </a:r>
            <a:br>
              <a:rPr sz="1800"/>
            </a:br>
            <a:r>
              <a:rPr b="0" lang="en-US" sz="1200" strike="noStrike" u="none">
                <a:solidFill>
                  <a:srgbClr val="475569"/>
                </a:solidFill>
                <a:uFillTx/>
                <a:latin typeface="Inter"/>
                <a:ea typeface="Inter"/>
              </a:rPr>
              <a:t> ↓ Feature-specific prompt generation</a:t>
            </a:r>
            <a:br>
              <a:rPr sz="1800"/>
            </a:br>
            <a:r>
              <a:rPr b="0" lang="en-US" sz="1200" strike="noStrike" u="none">
                <a:solidFill>
                  <a:srgbClr val="475569"/>
                </a:solidFill>
                <a:uFillTx/>
                <a:latin typeface="Inter"/>
                <a:ea typeface="Inter"/>
              </a:rPr>
              <a:t> ↓ Google Gemini processing</a:t>
            </a:r>
            <a:br>
              <a:rPr sz="1800"/>
            </a:br>
            <a:r>
              <a:rPr b="0" lang="en-US" sz="1200" strike="noStrike" u="none">
                <a:solidFill>
                  <a:srgbClr val="475569"/>
                </a:solidFill>
                <a:uFillTx/>
                <a:latin typeface="Inter"/>
                <a:ea typeface="Inter"/>
              </a:rPr>
              <a:t> ↓ Structured response formatting</a:t>
            </a:r>
            <a:br>
              <a:rPr sz="1800"/>
            </a:br>
            <a:r>
              <a:rPr b="0" lang="en-US" sz="1200" strike="noStrike" u="none">
                <a:solidFill>
                  <a:srgbClr val="475569"/>
                </a:solidFill>
                <a:uFillTx/>
                <a:latin typeface="Inter"/>
                <a:ea typeface="Inter"/>
              </a:rPr>
              <a:t> ↓ Result displayed to student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8" name="Google Shape;333;p22"/>
          <p:cNvSpPr/>
          <p:nvPr/>
        </p:nvSpPr>
        <p:spPr>
          <a:xfrm>
            <a:off x="6543720" y="2847960"/>
            <a:ext cx="564804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e40af"/>
                </a:solidFill>
                <a:uFillTx/>
                <a:latin typeface="Plus Jakarta Sans"/>
                <a:ea typeface="Plus Jakarta Sans"/>
              </a:rPr>
              <a:t>Student Benefits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9" name="Google Shape;334;p22"/>
          <p:cNvSpPr/>
          <p:nvPr/>
        </p:nvSpPr>
        <p:spPr>
          <a:xfrm>
            <a:off x="6543720" y="3238560"/>
            <a:ext cx="4781160" cy="87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e3a8a"/>
                </a:solidFill>
                <a:uFillTx/>
                <a:latin typeface="Inter"/>
                <a:ea typeface="Inter"/>
              </a:rPr>
              <a:t>• </a:t>
            </a:r>
            <a:r>
              <a:rPr b="0" lang="en-US" sz="1200" strike="noStrike" u="none">
                <a:solidFill>
                  <a:srgbClr val="1e3a8a"/>
                </a:solidFill>
                <a:uFillTx/>
                <a:latin typeface="Inter"/>
                <a:ea typeface="Inter"/>
              </a:rPr>
              <a:t>Quick academic doubt clarification</a:t>
            </a:r>
            <a:br>
              <a:rPr sz="1800"/>
            </a:br>
            <a:r>
              <a:rPr b="0" lang="en-US" sz="1200" strike="noStrike" u="none">
                <a:solidFill>
                  <a:srgbClr val="1e3a8a"/>
                </a:solidFill>
                <a:uFillTx/>
                <a:latin typeface="Inter"/>
                <a:ea typeface="Inter"/>
              </a:rPr>
              <a:t> • Direct and clear explanations</a:t>
            </a:r>
            <a:br>
              <a:rPr sz="1800"/>
            </a:br>
            <a:r>
              <a:rPr b="0" lang="en-US" sz="1200" strike="noStrike" u="none">
                <a:solidFill>
                  <a:srgbClr val="1e3a8a"/>
                </a:solidFill>
                <a:uFillTx/>
                <a:latin typeface="Inter"/>
                <a:ea typeface="Inter"/>
              </a:rPr>
              <a:t> • Contextual examples for retention</a:t>
            </a:r>
            <a:br>
              <a:rPr sz="1800"/>
            </a:br>
            <a:r>
              <a:rPr b="0" lang="en-US" sz="1200" strike="noStrike" u="none">
                <a:solidFill>
                  <a:srgbClr val="1e3a8a"/>
                </a:solidFill>
                <a:uFillTx/>
                <a:latin typeface="Inter"/>
                <a:ea typeface="Inter"/>
              </a:rPr>
              <a:t> • Friendly, accessible presentation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339;p23"/>
          <p:cNvSpPr/>
          <p:nvPr/>
        </p:nvSpPr>
        <p:spPr>
          <a:xfrm>
            <a:off x="685800" y="5829480"/>
            <a:ext cx="10820160" cy="495000"/>
          </a:xfrm>
          <a:prstGeom prst="roundRect">
            <a:avLst>
              <a:gd name="adj" fmla="val 15384"/>
            </a:avLst>
          </a:prstGeom>
          <a:solidFill>
            <a:srgbClr val="f1f5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221" name="Google Shape;340;p23"/>
          <p:cNvSpPr/>
          <p:nvPr/>
        </p:nvSpPr>
        <p:spPr>
          <a:xfrm>
            <a:off x="685800" y="2796480"/>
            <a:ext cx="2533320" cy="1418760"/>
          </a:xfrm>
          <a:prstGeom prst="roundRect">
            <a:avLst>
              <a:gd name="adj" fmla="val 8053"/>
            </a:avLst>
          </a:prstGeom>
          <a:solidFill>
            <a:srgbClr val="f8fafc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222" name="Google Shape;341;p23"/>
          <p:cNvSpPr/>
          <p:nvPr/>
        </p:nvSpPr>
        <p:spPr>
          <a:xfrm>
            <a:off x="3448080" y="2706120"/>
            <a:ext cx="2533320" cy="1599840"/>
          </a:xfrm>
          <a:prstGeom prst="roundRect">
            <a:avLst>
              <a:gd name="adj" fmla="val 7142"/>
            </a:avLst>
          </a:prstGeom>
          <a:solidFill>
            <a:srgbClr val="f8fafc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223" name="Google Shape;342;p23"/>
          <p:cNvSpPr/>
          <p:nvPr/>
        </p:nvSpPr>
        <p:spPr>
          <a:xfrm>
            <a:off x="6210360" y="2796480"/>
            <a:ext cx="2533320" cy="1418760"/>
          </a:xfrm>
          <a:prstGeom prst="roundRect">
            <a:avLst>
              <a:gd name="adj" fmla="val 8053"/>
            </a:avLst>
          </a:prstGeom>
          <a:solidFill>
            <a:srgbClr val="f8fafc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224" name="Google Shape;343;p23"/>
          <p:cNvSpPr/>
          <p:nvPr/>
        </p:nvSpPr>
        <p:spPr>
          <a:xfrm>
            <a:off x="8972640" y="2796480"/>
            <a:ext cx="2533320" cy="1418760"/>
          </a:xfrm>
          <a:prstGeom prst="roundRect">
            <a:avLst>
              <a:gd name="adj" fmla="val 8053"/>
            </a:avLst>
          </a:prstGeom>
          <a:solidFill>
            <a:srgbClr val="f8fafc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pic>
        <p:nvPicPr>
          <p:cNvPr id="225" name="Google Shape;344;p23" descr="image.png"/>
          <p:cNvPicPr/>
          <p:nvPr/>
        </p:nvPicPr>
        <p:blipFill>
          <a:blip r:embed="rId1"/>
          <a:stretch/>
        </p:blipFill>
        <p:spPr>
          <a:xfrm>
            <a:off x="885960" y="3072600"/>
            <a:ext cx="266400" cy="266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6" name="Google Shape;345;p23" descr="image.png"/>
          <p:cNvPicPr/>
          <p:nvPr/>
        </p:nvPicPr>
        <p:blipFill>
          <a:blip r:embed="rId2"/>
          <a:stretch/>
        </p:blipFill>
        <p:spPr>
          <a:xfrm>
            <a:off x="3648240" y="2982240"/>
            <a:ext cx="304560" cy="266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7" name="Google Shape;346;p23" descr="image.png"/>
          <p:cNvPicPr/>
          <p:nvPr/>
        </p:nvPicPr>
        <p:blipFill>
          <a:blip r:embed="rId3"/>
          <a:stretch/>
        </p:blipFill>
        <p:spPr>
          <a:xfrm>
            <a:off x="6410160" y="3072600"/>
            <a:ext cx="304560" cy="266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8" name="Google Shape;347;p23" descr="image.png"/>
          <p:cNvPicPr/>
          <p:nvPr/>
        </p:nvPicPr>
        <p:blipFill>
          <a:blip r:embed="rId4"/>
          <a:stretch/>
        </p:blipFill>
        <p:spPr>
          <a:xfrm>
            <a:off x="9172440" y="3072600"/>
            <a:ext cx="266400" cy="26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9" name="Google Shape;348;p23"/>
          <p:cNvSpPr/>
          <p:nvPr/>
        </p:nvSpPr>
        <p:spPr>
          <a:xfrm>
            <a:off x="685800" y="533520"/>
            <a:ext cx="1150596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2563eb"/>
                </a:solidFill>
                <a:uFillTx/>
                <a:latin typeface="Inter"/>
                <a:ea typeface="Inter"/>
              </a:rPr>
              <a:t>CONCEPT SIMPLIFICATION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0" name="Google Shape;349;p23"/>
          <p:cNvSpPr/>
          <p:nvPr/>
        </p:nvSpPr>
        <p:spPr>
          <a:xfrm>
            <a:off x="685800" y="771480"/>
            <a:ext cx="1150596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1" lang="en-US" sz="2700" strike="noStrike" u="none">
                <a:solidFill>
                  <a:srgbClr val="0f172a"/>
                </a:solidFill>
                <a:uFillTx/>
                <a:latin typeface="Plus Jakarta Sans"/>
                <a:ea typeface="Plus Jakarta Sans"/>
              </a:rPr>
              <a:t>AI Explain</a:t>
            </a:r>
            <a:endParaRPr b="0" lang="en-US" sz="2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1" name="Google Shape;350;p23"/>
          <p:cNvSpPr/>
          <p:nvPr/>
        </p:nvSpPr>
        <p:spPr>
          <a:xfrm>
            <a:off x="-190440" y="5981760"/>
            <a:ext cx="12572640" cy="1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80" strike="noStrike" u="none">
                <a:solidFill>
                  <a:srgbClr val="334155"/>
                </a:solidFill>
                <a:uFillTx/>
                <a:latin typeface="Inter"/>
                <a:ea typeface="Inter"/>
              </a:rPr>
              <a:t>Core Purpose: To convert difficult academic concepts into easier-to-understand explanations.</a:t>
            </a:r>
            <a:endParaRPr b="0" lang="en-US" sz="128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2" name="Google Shape;351;p23"/>
          <p:cNvSpPr/>
          <p:nvPr/>
        </p:nvSpPr>
        <p:spPr>
          <a:xfrm>
            <a:off x="885960" y="3453840"/>
            <a:ext cx="2800080" cy="21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430" strike="noStrike" u="none">
                <a:solidFill>
                  <a:srgbClr val="0f172a"/>
                </a:solidFill>
                <a:uFillTx/>
                <a:latin typeface="Plus Jakarta Sans"/>
                <a:ea typeface="Plus Jakarta Sans"/>
              </a:rPr>
              <a:t>Simple View</a:t>
            </a:r>
            <a:endParaRPr b="0" lang="en-US" sz="143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3" name="Google Shape;352;p23"/>
          <p:cNvSpPr/>
          <p:nvPr/>
        </p:nvSpPr>
        <p:spPr>
          <a:xfrm>
            <a:off x="885960" y="3758400"/>
            <a:ext cx="2666520" cy="17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30" strike="noStrike" u="none">
                <a:solidFill>
                  <a:srgbClr val="64748b"/>
                </a:solidFill>
                <a:uFillTx/>
                <a:latin typeface="Inter"/>
                <a:ea typeface="Inter"/>
              </a:rPr>
              <a:t>Intuitive, jargon-free overview.</a:t>
            </a:r>
            <a:endParaRPr b="0" lang="en-US" sz="113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4" name="Google Shape;353;p23"/>
          <p:cNvSpPr/>
          <p:nvPr/>
        </p:nvSpPr>
        <p:spPr>
          <a:xfrm>
            <a:off x="3648240" y="3363120"/>
            <a:ext cx="2800080" cy="21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430" strike="noStrike" u="none">
                <a:solidFill>
                  <a:srgbClr val="0f172a"/>
                </a:solidFill>
                <a:uFillTx/>
                <a:latin typeface="Plus Jakarta Sans"/>
                <a:ea typeface="Plus Jakarta Sans"/>
              </a:rPr>
              <a:t>Detailed View</a:t>
            </a:r>
            <a:endParaRPr b="0" lang="en-US" sz="143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5" name="Google Shape;354;p23"/>
          <p:cNvSpPr/>
          <p:nvPr/>
        </p:nvSpPr>
        <p:spPr>
          <a:xfrm>
            <a:off x="3648240" y="3668040"/>
            <a:ext cx="2228400" cy="17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30" strike="noStrike" u="none">
                <a:solidFill>
                  <a:srgbClr val="64748b"/>
                </a:solidFill>
                <a:uFillTx/>
                <a:latin typeface="Inter"/>
                <a:ea typeface="Inter"/>
              </a:rPr>
              <a:t>Comprehensive technical depth.</a:t>
            </a:r>
            <a:endParaRPr b="0" lang="en-US" sz="113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6" name="Google Shape;355;p23"/>
          <p:cNvSpPr/>
          <p:nvPr/>
        </p:nvSpPr>
        <p:spPr>
          <a:xfrm>
            <a:off x="6410160" y="3453840"/>
            <a:ext cx="2800080" cy="21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430" strike="noStrike" u="none">
                <a:solidFill>
                  <a:srgbClr val="0f172a"/>
                </a:solidFill>
                <a:uFillTx/>
                <a:latin typeface="Plus Jakarta Sans"/>
                <a:ea typeface="Plus Jakarta Sans"/>
              </a:rPr>
              <a:t>Examples</a:t>
            </a:r>
            <a:endParaRPr b="0" lang="en-US" sz="143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7" name="Google Shape;356;p23"/>
          <p:cNvSpPr/>
          <p:nvPr/>
        </p:nvSpPr>
        <p:spPr>
          <a:xfrm>
            <a:off x="6410160" y="3758400"/>
            <a:ext cx="2666520" cy="17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30" strike="noStrike" u="none">
                <a:solidFill>
                  <a:srgbClr val="64748b"/>
                </a:solidFill>
                <a:uFillTx/>
                <a:latin typeface="Inter"/>
                <a:ea typeface="Inter"/>
              </a:rPr>
              <a:t>Practical analogies and cases.</a:t>
            </a:r>
            <a:endParaRPr b="0" lang="en-US" sz="113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8" name="Google Shape;357;p23"/>
          <p:cNvSpPr/>
          <p:nvPr/>
        </p:nvSpPr>
        <p:spPr>
          <a:xfrm>
            <a:off x="9172440" y="3453840"/>
            <a:ext cx="2800080" cy="21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430" strike="noStrike" u="none">
                <a:solidFill>
                  <a:srgbClr val="0f172a"/>
                </a:solidFill>
                <a:uFillTx/>
                <a:latin typeface="Plus Jakarta Sans"/>
                <a:ea typeface="Plus Jakarta Sans"/>
              </a:rPr>
              <a:t>Structured Data</a:t>
            </a:r>
            <a:endParaRPr b="0" lang="en-US" sz="143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9" name="Google Shape;358;p23"/>
          <p:cNvSpPr/>
          <p:nvPr/>
        </p:nvSpPr>
        <p:spPr>
          <a:xfrm>
            <a:off x="9172440" y="3758400"/>
            <a:ext cx="2666520" cy="17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30" strike="noStrike" u="none">
                <a:solidFill>
                  <a:srgbClr val="64748b"/>
                </a:solidFill>
                <a:uFillTx/>
                <a:latin typeface="Inter"/>
                <a:ea typeface="Inter"/>
              </a:rPr>
              <a:t>Organized bullet summaries.</a:t>
            </a:r>
            <a:endParaRPr b="0" lang="en-US" sz="113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363;p24"/>
          <p:cNvSpPr/>
          <p:nvPr/>
        </p:nvSpPr>
        <p:spPr>
          <a:xfrm>
            <a:off x="685800" y="6000840"/>
            <a:ext cx="1082016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241" name="Google Shape;364;p24"/>
          <p:cNvSpPr/>
          <p:nvPr/>
        </p:nvSpPr>
        <p:spPr>
          <a:xfrm>
            <a:off x="685800" y="2297520"/>
            <a:ext cx="5276520" cy="2588400"/>
          </a:xfrm>
          <a:prstGeom prst="roundRect">
            <a:avLst>
              <a:gd name="adj" fmla="val 4415"/>
            </a:avLst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242" name="Google Shape;365;p24"/>
          <p:cNvSpPr/>
          <p:nvPr/>
        </p:nvSpPr>
        <p:spPr>
          <a:xfrm>
            <a:off x="6229440" y="2571840"/>
            <a:ext cx="5276520" cy="2039760"/>
          </a:xfrm>
          <a:prstGeom prst="roundRect">
            <a:avLst>
              <a:gd name="adj" fmla="val 5602"/>
            </a:avLst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243" name="Google Shape;366;p24"/>
          <p:cNvSpPr/>
          <p:nvPr/>
        </p:nvSpPr>
        <p:spPr>
          <a:xfrm>
            <a:off x="685800" y="6000840"/>
            <a:ext cx="1082016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244" name="Google Shape;367;p24"/>
          <p:cNvSpPr/>
          <p:nvPr/>
        </p:nvSpPr>
        <p:spPr>
          <a:xfrm>
            <a:off x="685800" y="533520"/>
            <a:ext cx="1150596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2563eb"/>
                </a:solidFill>
                <a:uFillTx/>
                <a:latin typeface="Inter"/>
                <a:ea typeface="Inter"/>
              </a:rPr>
              <a:t>SELF-ASSESSMENT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5" name="Google Shape;368;p24"/>
          <p:cNvSpPr/>
          <p:nvPr/>
        </p:nvSpPr>
        <p:spPr>
          <a:xfrm>
            <a:off x="685800" y="771480"/>
            <a:ext cx="1150596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1" lang="en-US" sz="2700" strike="noStrike" u="none">
                <a:solidFill>
                  <a:srgbClr val="0f172a"/>
                </a:solidFill>
                <a:uFillTx/>
                <a:latin typeface="Plus Jakarta Sans"/>
                <a:ea typeface="Plus Jakarta Sans"/>
              </a:rPr>
              <a:t>AI Quiz System</a:t>
            </a:r>
            <a:endParaRPr b="0" lang="en-US" sz="2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6" name="Google Shape;369;p24"/>
          <p:cNvSpPr/>
          <p:nvPr/>
        </p:nvSpPr>
        <p:spPr>
          <a:xfrm>
            <a:off x="685800" y="6162840"/>
            <a:ext cx="220212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4748b"/>
                </a:solidFill>
                <a:uFillTx/>
                <a:latin typeface="Inter"/>
                <a:ea typeface="Inter"/>
              </a:rPr>
              <a:t>EduGenie Architecture Deck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7" name="Google Shape;370;p24"/>
          <p:cNvSpPr/>
          <p:nvPr/>
        </p:nvSpPr>
        <p:spPr>
          <a:xfrm>
            <a:off x="11020320" y="6162840"/>
            <a:ext cx="77112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4748b"/>
                </a:solidFill>
                <a:uFillTx/>
                <a:latin typeface="Inter"/>
                <a:ea typeface="Inter"/>
              </a:rPr>
              <a:t>Slide 12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8" name="Google Shape;371;p24"/>
          <p:cNvSpPr/>
          <p:nvPr/>
        </p:nvSpPr>
        <p:spPr>
          <a:xfrm>
            <a:off x="961920" y="2573640"/>
            <a:ext cx="620028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e293b"/>
                </a:solidFill>
                <a:uFillTx/>
                <a:latin typeface="Plus Jakarta Sans"/>
                <a:ea typeface="Plus Jakarta Sans"/>
              </a:rPr>
              <a:t>Quiz Workflow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9" name="Google Shape;372;p24"/>
          <p:cNvSpPr/>
          <p:nvPr/>
        </p:nvSpPr>
        <p:spPr>
          <a:xfrm>
            <a:off x="961920" y="2964240"/>
            <a:ext cx="4819320" cy="131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475569"/>
                </a:solidFill>
                <a:uFillTx/>
                <a:latin typeface="Inter"/>
                <a:ea typeface="Inter"/>
              </a:rPr>
              <a:t>Student enters topic</a:t>
            </a:r>
            <a:br>
              <a:rPr sz="1800"/>
            </a:br>
            <a:r>
              <a:rPr b="0" lang="en-US" sz="1200" strike="noStrike" u="none">
                <a:solidFill>
                  <a:srgbClr val="475569"/>
                </a:solidFill>
                <a:uFillTx/>
                <a:latin typeface="Inter"/>
                <a:ea typeface="Inter"/>
              </a:rPr>
              <a:t> ↓ AI generates 3 questions</a:t>
            </a:r>
            <a:br>
              <a:rPr sz="1800"/>
            </a:br>
            <a:r>
              <a:rPr b="0" lang="en-US" sz="1200" strike="noStrike" u="none">
                <a:solidFill>
                  <a:srgbClr val="475569"/>
                </a:solidFill>
                <a:uFillTx/>
                <a:latin typeface="Inter"/>
                <a:ea typeface="Inter"/>
              </a:rPr>
              <a:t> ↓ 4 options per question</a:t>
            </a:r>
            <a:br>
              <a:rPr sz="1800"/>
            </a:br>
            <a:r>
              <a:rPr b="0" lang="en-US" sz="1200" strike="noStrike" u="none">
                <a:solidFill>
                  <a:srgbClr val="475569"/>
                </a:solidFill>
                <a:uFillTx/>
                <a:latin typeface="Inter"/>
                <a:ea typeface="Inter"/>
              </a:rPr>
              <a:t> ↓ Student selects answers</a:t>
            </a:r>
            <a:br>
              <a:rPr sz="1800"/>
            </a:br>
            <a:r>
              <a:rPr b="0" lang="en-US" sz="1200" strike="noStrike" u="none">
                <a:solidFill>
                  <a:srgbClr val="475569"/>
                </a:solidFill>
                <a:uFillTx/>
                <a:latin typeface="Inter"/>
                <a:ea typeface="Inter"/>
              </a:rPr>
              <a:t> ↓ Submit and automatic score calculation</a:t>
            </a:r>
            <a:br>
              <a:rPr sz="1800"/>
            </a:br>
            <a:r>
              <a:rPr b="0" lang="en-US" sz="1200" strike="noStrike" u="none">
                <a:solidFill>
                  <a:srgbClr val="475569"/>
                </a:solidFill>
                <a:uFillTx/>
                <a:latin typeface="Inter"/>
                <a:ea typeface="Inter"/>
              </a:rPr>
              <a:t> ↓ Correct answers and explanations displayed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0" name="Google Shape;373;p24"/>
          <p:cNvSpPr/>
          <p:nvPr/>
        </p:nvSpPr>
        <p:spPr>
          <a:xfrm>
            <a:off x="6505560" y="2847960"/>
            <a:ext cx="568620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e293b"/>
                </a:solidFill>
                <a:uFillTx/>
                <a:latin typeface="Plus Jakarta Sans"/>
                <a:ea typeface="Plus Jakarta Sans"/>
              </a:rPr>
              <a:t>Scoring &amp; Feedback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1" name="Google Shape;374;p24"/>
          <p:cNvSpPr/>
          <p:nvPr/>
        </p:nvSpPr>
        <p:spPr>
          <a:xfrm>
            <a:off x="6505560" y="3238560"/>
            <a:ext cx="4819320" cy="87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475569"/>
                </a:solidFill>
                <a:uFillTx/>
                <a:latin typeface="Inter"/>
                <a:ea typeface="Inter"/>
              </a:rPr>
              <a:t>• </a:t>
            </a:r>
            <a:r>
              <a:rPr b="0" lang="en-US" sz="1200" strike="noStrike" u="none">
                <a:solidFill>
                  <a:srgbClr val="475569"/>
                </a:solidFill>
                <a:uFillTx/>
                <a:latin typeface="Inter"/>
                <a:ea typeface="Inter"/>
              </a:rPr>
              <a:t>Perfect Score: 3/3 (100%)</a:t>
            </a:r>
            <a:br>
              <a:rPr sz="1800"/>
            </a:br>
            <a:r>
              <a:rPr b="0" lang="en-US" sz="1200" strike="noStrike" u="none">
                <a:solidFill>
                  <a:srgbClr val="475569"/>
                </a:solidFill>
                <a:uFillTx/>
                <a:latin typeface="Inter"/>
                <a:ea typeface="Inter"/>
              </a:rPr>
              <a:t> • Moderate: 2/3 or 1/3</a:t>
            </a:r>
            <a:br>
              <a:rPr sz="1800"/>
            </a:br>
            <a:r>
              <a:rPr b="0" lang="en-US" sz="1200" strike="noStrike" u="none">
                <a:solidFill>
                  <a:srgbClr val="475569"/>
                </a:solidFill>
                <a:uFillTx/>
                <a:latin typeface="Inter"/>
                <a:ea typeface="Inter"/>
              </a:rPr>
              <a:t> • Immediate answer key reveal</a:t>
            </a:r>
            <a:br>
              <a:rPr sz="1800"/>
            </a:br>
            <a:r>
              <a:rPr b="0" lang="en-US" sz="1200" strike="noStrike" u="none">
                <a:solidFill>
                  <a:srgbClr val="475569"/>
                </a:solidFill>
                <a:uFillTx/>
                <a:latin typeface="Inter"/>
                <a:ea typeface="Inter"/>
              </a:rPr>
              <a:t> • Detailed rationales for every option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379;p25"/>
          <p:cNvSpPr/>
          <p:nvPr/>
        </p:nvSpPr>
        <p:spPr>
          <a:xfrm>
            <a:off x="685800" y="6000480"/>
            <a:ext cx="1082016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253" name="Google Shape;380;p25"/>
          <p:cNvSpPr/>
          <p:nvPr/>
        </p:nvSpPr>
        <p:spPr>
          <a:xfrm>
            <a:off x="685800" y="2701080"/>
            <a:ext cx="3690720" cy="1780920"/>
          </a:xfrm>
          <a:prstGeom prst="roundRect">
            <a:avLst>
              <a:gd name="adj" fmla="val 6417"/>
            </a:avLst>
          </a:prstGeom>
          <a:solidFill>
            <a:srgbClr val="f8fafc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254" name="Google Shape;381;p25"/>
          <p:cNvSpPr/>
          <p:nvPr/>
        </p:nvSpPr>
        <p:spPr>
          <a:xfrm>
            <a:off x="5186520" y="2670840"/>
            <a:ext cx="6319440" cy="1841760"/>
          </a:xfrm>
          <a:prstGeom prst="roundRect">
            <a:avLst>
              <a:gd name="adj" fmla="val 6205"/>
            </a:avLst>
          </a:prstGeom>
          <a:solidFill>
            <a:srgbClr val="eff6ff"/>
          </a:solidFill>
          <a:ln w="9525">
            <a:solidFill>
              <a:srgbClr val="dbea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255" name="Google Shape;382;p25"/>
          <p:cNvSpPr/>
          <p:nvPr/>
        </p:nvSpPr>
        <p:spPr>
          <a:xfrm>
            <a:off x="685800" y="6000480"/>
            <a:ext cx="1082016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pic>
        <p:nvPicPr>
          <p:cNvPr id="256" name="Google Shape;383;p25" descr="image.png"/>
          <p:cNvPicPr/>
          <p:nvPr/>
        </p:nvPicPr>
        <p:blipFill>
          <a:blip r:embed="rId1"/>
          <a:stretch/>
        </p:blipFill>
        <p:spPr>
          <a:xfrm>
            <a:off x="923760" y="3015360"/>
            <a:ext cx="304560" cy="304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7" name="Google Shape;384;p25" descr="image.png"/>
          <p:cNvPicPr/>
          <p:nvPr/>
        </p:nvPicPr>
        <p:blipFill>
          <a:blip r:embed="rId2"/>
          <a:stretch/>
        </p:blipFill>
        <p:spPr>
          <a:xfrm>
            <a:off x="4681440" y="3477240"/>
            <a:ext cx="199800" cy="22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8" name="Google Shape;385;p25"/>
          <p:cNvSpPr/>
          <p:nvPr/>
        </p:nvSpPr>
        <p:spPr>
          <a:xfrm>
            <a:off x="685800" y="533520"/>
            <a:ext cx="1150596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2563eb"/>
                </a:solidFill>
                <a:uFillTx/>
                <a:latin typeface="Inter"/>
                <a:ea typeface="Inter"/>
              </a:rPr>
              <a:t>CONTENT REVISION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9" name="Google Shape;386;p25"/>
          <p:cNvSpPr/>
          <p:nvPr/>
        </p:nvSpPr>
        <p:spPr>
          <a:xfrm>
            <a:off x="685800" y="771480"/>
            <a:ext cx="1150596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1" lang="en-US" sz="2700" strike="noStrike" u="none">
                <a:solidFill>
                  <a:srgbClr val="0f172a"/>
                </a:solidFill>
                <a:uFillTx/>
                <a:latin typeface="Plus Jakarta Sans"/>
                <a:ea typeface="Plus Jakarta Sans"/>
              </a:rPr>
              <a:t>AI Summarizer</a:t>
            </a:r>
            <a:endParaRPr b="0" lang="en-US" sz="2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0" name="Google Shape;387;p25"/>
          <p:cNvSpPr/>
          <p:nvPr/>
        </p:nvSpPr>
        <p:spPr>
          <a:xfrm>
            <a:off x="685800" y="6162480"/>
            <a:ext cx="220212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4748b"/>
                </a:solidFill>
                <a:uFillTx/>
                <a:latin typeface="Inter"/>
                <a:ea typeface="Inter"/>
              </a:rPr>
              <a:t>EduGenie Architecture Deck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1" name="Google Shape;388;p25"/>
          <p:cNvSpPr/>
          <p:nvPr/>
        </p:nvSpPr>
        <p:spPr>
          <a:xfrm>
            <a:off x="11020320" y="6162480"/>
            <a:ext cx="77112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4748b"/>
                </a:solidFill>
                <a:uFillTx/>
                <a:latin typeface="Inter"/>
                <a:ea typeface="Inter"/>
              </a:rPr>
              <a:t>Slide 13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2" name="Google Shape;389;p25"/>
          <p:cNvSpPr/>
          <p:nvPr/>
        </p:nvSpPr>
        <p:spPr>
          <a:xfrm>
            <a:off x="923760" y="3472560"/>
            <a:ext cx="421884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0f172a"/>
                </a:solidFill>
                <a:uFillTx/>
                <a:latin typeface="Plus Jakarta Sans"/>
                <a:ea typeface="Plus Jakarta Sans"/>
              </a:rPr>
              <a:t>Input Text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3" name="Google Shape;390;p25"/>
          <p:cNvSpPr/>
          <p:nvPr/>
        </p:nvSpPr>
        <p:spPr>
          <a:xfrm>
            <a:off x="923760" y="3786840"/>
            <a:ext cx="330948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475569"/>
                </a:solidFill>
                <a:uFillTx/>
                <a:latin typeface="Inter"/>
                <a:ea typeface="Inter"/>
              </a:rPr>
              <a:t>Paste study material, notes, or textbook excerpts.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4" name="Google Shape;391;p25"/>
          <p:cNvSpPr/>
          <p:nvPr/>
        </p:nvSpPr>
        <p:spPr>
          <a:xfrm>
            <a:off x="5462640" y="2985120"/>
            <a:ext cx="672912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e40af"/>
                </a:solidFill>
                <a:uFillTx/>
                <a:latin typeface="Plus Jakarta Sans"/>
                <a:ea typeface="Plus Jakarta Sans"/>
              </a:rPr>
              <a:t>Generated Revision Output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5" name="Google Shape;392;p25"/>
          <p:cNvSpPr/>
          <p:nvPr/>
        </p:nvSpPr>
        <p:spPr>
          <a:xfrm>
            <a:off x="5462640" y="3375720"/>
            <a:ext cx="58622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e3a8a"/>
                </a:solidFill>
                <a:uFillTx/>
                <a:latin typeface="Inter"/>
                <a:ea typeface="Inter"/>
              </a:rPr>
              <a:t>• </a:t>
            </a:r>
            <a:r>
              <a:rPr b="0" lang="en-US" sz="1200" strike="noStrike" u="none">
                <a:solidFill>
                  <a:srgbClr val="1e3a8a"/>
                </a:solidFill>
                <a:uFillTx/>
                <a:latin typeface="Inter"/>
                <a:ea typeface="Inter"/>
              </a:rPr>
              <a:t>Concise summary capturing core thesis</a:t>
            </a:r>
            <a:br>
              <a:rPr sz="1800"/>
            </a:br>
            <a:r>
              <a:rPr b="0" lang="en-US" sz="1200" strike="noStrike" u="none">
                <a:solidFill>
                  <a:srgbClr val="1e3a8a"/>
                </a:solidFill>
                <a:uFillTx/>
                <a:latin typeface="Inter"/>
                <a:ea typeface="Inter"/>
              </a:rPr>
              <a:t> • Key points for rapid exam recall</a:t>
            </a:r>
            <a:br>
              <a:rPr sz="1800"/>
            </a:br>
            <a:r>
              <a:rPr b="0" lang="en-US" sz="1200" strike="noStrike" u="none">
                <a:solidFill>
                  <a:srgbClr val="1e3a8a"/>
                </a:solidFill>
                <a:uFillTx/>
                <a:latin typeface="Inter"/>
                <a:ea typeface="Inter"/>
              </a:rPr>
              <a:t> • Important definitions and concepts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397;p26"/>
          <p:cNvSpPr/>
          <p:nvPr/>
        </p:nvSpPr>
        <p:spPr>
          <a:xfrm>
            <a:off x="685800" y="5810400"/>
            <a:ext cx="10820160" cy="514080"/>
          </a:xfrm>
          <a:prstGeom prst="roundRect">
            <a:avLst>
              <a:gd name="adj" fmla="val 14814"/>
            </a:avLst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267" name="Google Shape;398;p26"/>
          <p:cNvSpPr/>
          <p:nvPr/>
        </p:nvSpPr>
        <p:spPr>
          <a:xfrm>
            <a:off x="685800" y="2849040"/>
            <a:ext cx="2561760" cy="1294920"/>
          </a:xfrm>
          <a:prstGeom prst="roundRect">
            <a:avLst>
              <a:gd name="adj" fmla="val 8823"/>
            </a:avLst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268" name="Google Shape;399;p26"/>
          <p:cNvSpPr/>
          <p:nvPr/>
        </p:nvSpPr>
        <p:spPr>
          <a:xfrm>
            <a:off x="3438360" y="2849040"/>
            <a:ext cx="2561760" cy="1294920"/>
          </a:xfrm>
          <a:prstGeom prst="roundRect">
            <a:avLst>
              <a:gd name="adj" fmla="val 8823"/>
            </a:avLst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269" name="Google Shape;400;p26"/>
          <p:cNvSpPr/>
          <p:nvPr/>
        </p:nvSpPr>
        <p:spPr>
          <a:xfrm>
            <a:off x="6191280" y="2849040"/>
            <a:ext cx="2561760" cy="1294920"/>
          </a:xfrm>
          <a:prstGeom prst="roundRect">
            <a:avLst>
              <a:gd name="adj" fmla="val 8823"/>
            </a:avLst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270" name="Google Shape;401;p26"/>
          <p:cNvSpPr/>
          <p:nvPr/>
        </p:nvSpPr>
        <p:spPr>
          <a:xfrm>
            <a:off x="8943840" y="2849040"/>
            <a:ext cx="2561760" cy="1294920"/>
          </a:xfrm>
          <a:prstGeom prst="roundRect">
            <a:avLst>
              <a:gd name="adj" fmla="val 8823"/>
            </a:avLst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pic>
        <p:nvPicPr>
          <p:cNvPr id="271" name="Google Shape;402;p26" descr="image.png"/>
          <p:cNvPicPr/>
          <p:nvPr/>
        </p:nvPicPr>
        <p:blipFill>
          <a:blip r:embed="rId1"/>
          <a:stretch/>
        </p:blipFill>
        <p:spPr>
          <a:xfrm>
            <a:off x="885960" y="3087000"/>
            <a:ext cx="199800" cy="228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2" name="Google Shape;403;p26" descr="image.png"/>
          <p:cNvPicPr/>
          <p:nvPr/>
        </p:nvPicPr>
        <p:blipFill>
          <a:blip r:embed="rId2"/>
          <a:stretch/>
        </p:blipFill>
        <p:spPr>
          <a:xfrm>
            <a:off x="3638520" y="3087000"/>
            <a:ext cx="228240" cy="228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3" name="Google Shape;404;p26" descr="image.png"/>
          <p:cNvPicPr/>
          <p:nvPr/>
        </p:nvPicPr>
        <p:blipFill>
          <a:blip r:embed="rId3"/>
          <a:stretch/>
        </p:blipFill>
        <p:spPr>
          <a:xfrm>
            <a:off x="6391440" y="3087000"/>
            <a:ext cx="285480" cy="228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4" name="Google Shape;405;p26" descr="image.png"/>
          <p:cNvPicPr/>
          <p:nvPr/>
        </p:nvPicPr>
        <p:blipFill>
          <a:blip r:embed="rId4"/>
          <a:stretch/>
        </p:blipFill>
        <p:spPr>
          <a:xfrm>
            <a:off x="9144000" y="3087000"/>
            <a:ext cx="228240" cy="22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5" name="Google Shape;406;p26"/>
          <p:cNvSpPr/>
          <p:nvPr/>
        </p:nvSpPr>
        <p:spPr>
          <a:xfrm>
            <a:off x="685800" y="533520"/>
            <a:ext cx="1150596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2563eb"/>
                </a:solidFill>
                <a:uFillTx/>
                <a:latin typeface="Inter"/>
                <a:ea typeface="Inter"/>
              </a:rPr>
              <a:t>CURRICULUM GUIDANCE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6" name="Google Shape;407;p26"/>
          <p:cNvSpPr/>
          <p:nvPr/>
        </p:nvSpPr>
        <p:spPr>
          <a:xfrm>
            <a:off x="685800" y="771480"/>
            <a:ext cx="1150596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1" lang="en-US" sz="2700" strike="noStrike" u="none">
                <a:solidFill>
                  <a:srgbClr val="0f172a"/>
                </a:solidFill>
                <a:uFillTx/>
                <a:latin typeface="Plus Jakarta Sans"/>
                <a:ea typeface="Plus Jakarta Sans"/>
              </a:rPr>
              <a:t>Learning Recommendations</a:t>
            </a:r>
            <a:endParaRPr b="0" lang="en-US" sz="2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7" name="Google Shape;408;p26"/>
          <p:cNvSpPr/>
          <p:nvPr/>
        </p:nvSpPr>
        <p:spPr>
          <a:xfrm>
            <a:off x="-184680" y="5972040"/>
            <a:ext cx="1256076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334155"/>
                </a:solidFill>
                <a:uFillTx/>
                <a:latin typeface="Inter"/>
                <a:ea typeface="Inter"/>
              </a:rPr>
              <a:t>Purpose: Provides a structured approach for students embarking on new subjects.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8" name="Google Shape;409;p26"/>
          <p:cNvSpPr/>
          <p:nvPr/>
        </p:nvSpPr>
        <p:spPr>
          <a:xfrm>
            <a:off x="885960" y="3429720"/>
            <a:ext cx="283752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0f172a"/>
                </a:solidFill>
                <a:uFillTx/>
                <a:latin typeface="Plus Jakarta Sans"/>
                <a:ea typeface="Plus Jakarta Sans"/>
              </a:rPr>
              <a:t>1. Prerequisites</a:t>
            </a:r>
            <a:endParaRPr b="0" lang="en-US" sz="13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9" name="Google Shape;410;p26"/>
          <p:cNvSpPr/>
          <p:nvPr/>
        </p:nvSpPr>
        <p:spPr>
          <a:xfrm>
            <a:off x="885960" y="3725280"/>
            <a:ext cx="2702520" cy="17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30" strike="noStrike" u="none">
                <a:solidFill>
                  <a:srgbClr val="64748b"/>
                </a:solidFill>
                <a:uFillTx/>
                <a:latin typeface="Inter"/>
                <a:ea typeface="Inter"/>
              </a:rPr>
              <a:t>Foundational concepts first.</a:t>
            </a:r>
            <a:endParaRPr b="0" lang="en-US" sz="113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0" name="Google Shape;411;p26"/>
          <p:cNvSpPr/>
          <p:nvPr/>
        </p:nvSpPr>
        <p:spPr>
          <a:xfrm>
            <a:off x="3638520" y="3429720"/>
            <a:ext cx="283752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0f172a"/>
                </a:solidFill>
                <a:uFillTx/>
                <a:latin typeface="Plus Jakarta Sans"/>
                <a:ea typeface="Plus Jakarta Sans"/>
              </a:rPr>
              <a:t>2. Next Topics</a:t>
            </a:r>
            <a:endParaRPr b="0" lang="en-US" sz="13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1" name="Google Shape;412;p26"/>
          <p:cNvSpPr/>
          <p:nvPr/>
        </p:nvSpPr>
        <p:spPr>
          <a:xfrm>
            <a:off x="3638520" y="3725280"/>
            <a:ext cx="2702520" cy="17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30" strike="noStrike" u="none">
                <a:solidFill>
                  <a:srgbClr val="64748b"/>
                </a:solidFill>
                <a:uFillTx/>
                <a:latin typeface="Inter"/>
                <a:ea typeface="Inter"/>
              </a:rPr>
              <a:t>Logical progression steps.</a:t>
            </a:r>
            <a:endParaRPr b="0" lang="en-US" sz="113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2" name="Google Shape;413;p26"/>
          <p:cNvSpPr/>
          <p:nvPr/>
        </p:nvSpPr>
        <p:spPr>
          <a:xfrm>
            <a:off x="6391440" y="3429720"/>
            <a:ext cx="283752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0f172a"/>
                </a:solidFill>
                <a:uFillTx/>
                <a:latin typeface="Plus Jakarta Sans"/>
                <a:ea typeface="Plus Jakarta Sans"/>
              </a:rPr>
              <a:t>3. Practice</a:t>
            </a:r>
            <a:endParaRPr b="0" lang="en-US" sz="13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3" name="Google Shape;414;p26"/>
          <p:cNvSpPr/>
          <p:nvPr/>
        </p:nvSpPr>
        <p:spPr>
          <a:xfrm>
            <a:off x="6391440" y="3725280"/>
            <a:ext cx="2702520" cy="17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30" strike="noStrike" u="none">
                <a:solidFill>
                  <a:srgbClr val="64748b"/>
                </a:solidFill>
                <a:uFillTx/>
                <a:latin typeface="Inter"/>
                <a:ea typeface="Inter"/>
              </a:rPr>
              <a:t>Hands-on problem sets.</a:t>
            </a:r>
            <a:endParaRPr b="0" lang="en-US" sz="113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4" name="Google Shape;415;p26"/>
          <p:cNvSpPr/>
          <p:nvPr/>
        </p:nvSpPr>
        <p:spPr>
          <a:xfrm>
            <a:off x="9144000" y="3429720"/>
            <a:ext cx="283752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0f172a"/>
                </a:solidFill>
                <a:uFillTx/>
                <a:latin typeface="Plus Jakarta Sans"/>
                <a:ea typeface="Plus Jakarta Sans"/>
              </a:rPr>
              <a:t>4. Revision</a:t>
            </a:r>
            <a:endParaRPr b="0" lang="en-US" sz="13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5" name="Google Shape;416;p26"/>
          <p:cNvSpPr/>
          <p:nvPr/>
        </p:nvSpPr>
        <p:spPr>
          <a:xfrm>
            <a:off x="9144000" y="3725280"/>
            <a:ext cx="2702520" cy="17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30" strike="noStrike" u="none">
                <a:solidFill>
                  <a:srgbClr val="64748b"/>
                </a:solidFill>
                <a:uFillTx/>
                <a:latin typeface="Inter"/>
                <a:ea typeface="Inter"/>
              </a:rPr>
              <a:t>Retention suggestions.</a:t>
            </a:r>
            <a:endParaRPr b="0" lang="en-US" sz="113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421;p27"/>
          <p:cNvSpPr/>
          <p:nvPr/>
        </p:nvSpPr>
        <p:spPr>
          <a:xfrm>
            <a:off x="685800" y="6000840"/>
            <a:ext cx="1082016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287" name="Google Shape;422;p27"/>
          <p:cNvSpPr/>
          <p:nvPr/>
        </p:nvSpPr>
        <p:spPr>
          <a:xfrm>
            <a:off x="685800" y="2544120"/>
            <a:ext cx="5295600" cy="2095200"/>
          </a:xfrm>
          <a:prstGeom prst="roundRect">
            <a:avLst>
              <a:gd name="adj" fmla="val 5454"/>
            </a:avLst>
          </a:prstGeom>
          <a:solidFill>
            <a:srgbClr val="f8fafc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288" name="Google Shape;423;p27"/>
          <p:cNvSpPr/>
          <p:nvPr/>
        </p:nvSpPr>
        <p:spPr>
          <a:xfrm>
            <a:off x="6210360" y="2672640"/>
            <a:ext cx="5295600" cy="1837800"/>
          </a:xfrm>
          <a:prstGeom prst="roundRect">
            <a:avLst>
              <a:gd name="adj" fmla="val 6217"/>
            </a:avLst>
          </a:prstGeom>
          <a:solidFill>
            <a:srgbClr val="eff6ff"/>
          </a:solidFill>
          <a:ln w="9525">
            <a:solidFill>
              <a:srgbClr val="dbea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289" name="Google Shape;424;p27"/>
          <p:cNvSpPr/>
          <p:nvPr/>
        </p:nvSpPr>
        <p:spPr>
          <a:xfrm>
            <a:off x="685800" y="6000840"/>
            <a:ext cx="1082016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290" name="Google Shape;425;p27"/>
          <p:cNvSpPr/>
          <p:nvPr/>
        </p:nvSpPr>
        <p:spPr>
          <a:xfrm>
            <a:off x="685800" y="533520"/>
            <a:ext cx="1150596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2563eb"/>
                </a:solidFill>
                <a:uFillTx/>
                <a:latin typeface="Inter"/>
                <a:ea typeface="Inter"/>
              </a:rPr>
              <a:t>SYSTEM TUNING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1" name="Google Shape;426;p27"/>
          <p:cNvSpPr/>
          <p:nvPr/>
        </p:nvSpPr>
        <p:spPr>
          <a:xfrm>
            <a:off x="685800" y="771480"/>
            <a:ext cx="1150596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1" lang="en-US" sz="2700" strike="noStrike" u="none">
                <a:solidFill>
                  <a:srgbClr val="0f172a"/>
                </a:solidFill>
                <a:uFillTx/>
                <a:latin typeface="Plus Jakarta Sans"/>
                <a:ea typeface="Plus Jakarta Sans"/>
              </a:rPr>
              <a:t>AI &amp; Prompt Engineering</a:t>
            </a:r>
            <a:endParaRPr b="0" lang="en-US" sz="2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2" name="Google Shape;427;p27"/>
          <p:cNvSpPr/>
          <p:nvPr/>
        </p:nvSpPr>
        <p:spPr>
          <a:xfrm>
            <a:off x="685800" y="6162840"/>
            <a:ext cx="220212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4748b"/>
                </a:solidFill>
                <a:uFillTx/>
                <a:latin typeface="Inter"/>
                <a:ea typeface="Inter"/>
              </a:rPr>
              <a:t>EduGenie Architecture Deck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3" name="Google Shape;428;p27"/>
          <p:cNvSpPr/>
          <p:nvPr/>
        </p:nvSpPr>
        <p:spPr>
          <a:xfrm>
            <a:off x="11030040" y="6162840"/>
            <a:ext cx="76176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4748b"/>
                </a:solidFill>
                <a:uFillTx/>
                <a:latin typeface="Inter"/>
                <a:ea typeface="Inter"/>
              </a:rPr>
              <a:t>Slide 15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4" name="Google Shape;429;p27"/>
          <p:cNvSpPr/>
          <p:nvPr/>
        </p:nvSpPr>
        <p:spPr>
          <a:xfrm>
            <a:off x="923760" y="2782080"/>
            <a:ext cx="632556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1e293b"/>
                </a:solidFill>
                <a:uFillTx/>
                <a:latin typeface="Plus Jakarta Sans"/>
                <a:ea typeface="Plus Jakarta Sans"/>
              </a:rPr>
              <a:t>Feature-Specific Prompts</a:t>
            </a:r>
            <a:endParaRPr b="0" lang="en-US" sz="13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5" name="Google Shape;430;p27"/>
          <p:cNvSpPr/>
          <p:nvPr/>
        </p:nvSpPr>
        <p:spPr>
          <a:xfrm>
            <a:off x="923760" y="3115440"/>
            <a:ext cx="491472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2000"/>
              </a:lnSpc>
              <a:tabLst>
                <a:tab algn="l" pos="0"/>
              </a:tabLst>
            </a:pPr>
            <a:r>
              <a:rPr b="0" lang="en-US" sz="1130" strike="noStrike" u="none">
                <a:solidFill>
                  <a:srgbClr val="334155"/>
                </a:solidFill>
                <a:uFillTx/>
                <a:latin typeface="Inter"/>
                <a:ea typeface="Inter"/>
              </a:rPr>
              <a:t>• </a:t>
            </a:r>
            <a:r>
              <a:rPr b="1" lang="en-US" sz="1130" strike="noStrike" u="none">
                <a:solidFill>
                  <a:srgbClr val="334155"/>
                </a:solidFill>
                <a:uFillTx/>
                <a:latin typeface="Inter"/>
                <a:ea typeface="Inter"/>
              </a:rPr>
              <a:t>Q&amp;A:</a:t>
            </a:r>
            <a:r>
              <a:rPr b="0" lang="en-US" sz="1130" strike="noStrike" u="none">
                <a:solidFill>
                  <a:srgbClr val="334155"/>
                </a:solidFill>
                <a:uFillTx/>
                <a:latin typeface="Inter"/>
                <a:ea typeface="Inter"/>
              </a:rPr>
              <a:t> Accurate, clear student response.</a:t>
            </a:r>
            <a:br>
              <a:rPr sz="1800"/>
            </a:br>
            <a:r>
              <a:rPr b="0" lang="en-US" sz="1130" strike="noStrike" u="none">
                <a:solidFill>
                  <a:srgbClr val="334155"/>
                </a:solidFill>
                <a:uFillTx/>
                <a:latin typeface="Inter"/>
                <a:ea typeface="Inter"/>
              </a:rPr>
              <a:t> • </a:t>
            </a:r>
            <a:r>
              <a:rPr b="1" lang="en-US" sz="1130" strike="noStrike" u="none">
                <a:solidFill>
                  <a:srgbClr val="334155"/>
                </a:solidFill>
                <a:uFillTx/>
                <a:latin typeface="Inter"/>
                <a:ea typeface="Inter"/>
              </a:rPr>
              <a:t>Explain:</a:t>
            </a:r>
            <a:r>
              <a:rPr b="0" lang="en-US" sz="1130" strike="noStrike" u="none">
                <a:solidFill>
                  <a:srgbClr val="334155"/>
                </a:solidFill>
                <a:uFillTx/>
                <a:latin typeface="Inter"/>
                <a:ea typeface="Inter"/>
              </a:rPr>
              <a:t> Step-by-step breakdown.</a:t>
            </a:r>
            <a:br>
              <a:rPr sz="1800"/>
            </a:br>
            <a:r>
              <a:rPr b="0" lang="en-US" sz="1130" strike="noStrike" u="none">
                <a:solidFill>
                  <a:srgbClr val="334155"/>
                </a:solidFill>
                <a:uFillTx/>
                <a:latin typeface="Inter"/>
                <a:ea typeface="Inter"/>
              </a:rPr>
              <a:t> • </a:t>
            </a:r>
            <a:r>
              <a:rPr b="1" lang="en-US" sz="1130" strike="noStrike" u="none">
                <a:solidFill>
                  <a:srgbClr val="334155"/>
                </a:solidFill>
                <a:uFillTx/>
                <a:latin typeface="Inter"/>
                <a:ea typeface="Inter"/>
              </a:rPr>
              <a:t>Quiz:</a:t>
            </a:r>
            <a:r>
              <a:rPr b="0" lang="en-US" sz="1130" strike="noStrike" u="none">
                <a:solidFill>
                  <a:srgbClr val="334155"/>
                </a:solidFill>
                <a:uFillTx/>
                <a:latin typeface="Inter"/>
                <a:ea typeface="Inter"/>
              </a:rPr>
              <a:t> Exactly 3 questions with 4 options.</a:t>
            </a:r>
            <a:br>
              <a:rPr sz="1800"/>
            </a:br>
            <a:r>
              <a:rPr b="0" lang="en-US" sz="1130" strike="noStrike" u="none">
                <a:solidFill>
                  <a:srgbClr val="334155"/>
                </a:solidFill>
                <a:uFillTx/>
                <a:latin typeface="Inter"/>
                <a:ea typeface="Inter"/>
              </a:rPr>
              <a:t> • </a:t>
            </a:r>
            <a:r>
              <a:rPr b="1" lang="en-US" sz="1130" strike="noStrike" u="none">
                <a:solidFill>
                  <a:srgbClr val="334155"/>
                </a:solidFill>
                <a:uFillTx/>
                <a:latin typeface="Inter"/>
                <a:ea typeface="Inter"/>
              </a:rPr>
              <a:t>Summarize:</a:t>
            </a:r>
            <a:r>
              <a:rPr b="0" lang="en-US" sz="1130" strike="noStrike" u="none">
                <a:solidFill>
                  <a:srgbClr val="334155"/>
                </a:solidFill>
                <a:uFillTx/>
                <a:latin typeface="Inter"/>
                <a:ea typeface="Inter"/>
              </a:rPr>
              <a:t> Key points and definitions.</a:t>
            </a:r>
            <a:br>
              <a:rPr sz="1800"/>
            </a:br>
            <a:r>
              <a:rPr b="0" lang="en-US" sz="1130" strike="noStrike" u="none">
                <a:solidFill>
                  <a:srgbClr val="334155"/>
                </a:solidFill>
                <a:uFillTx/>
                <a:latin typeface="Inter"/>
                <a:ea typeface="Inter"/>
              </a:rPr>
              <a:t> • </a:t>
            </a:r>
            <a:r>
              <a:rPr b="1" lang="en-US" sz="1130" strike="noStrike" u="none">
                <a:solidFill>
                  <a:srgbClr val="334155"/>
                </a:solidFill>
                <a:uFillTx/>
                <a:latin typeface="Inter"/>
                <a:ea typeface="Inter"/>
              </a:rPr>
              <a:t>Recommendations:</a:t>
            </a:r>
            <a:r>
              <a:rPr b="0" lang="en-US" sz="1130" strike="noStrike" u="none">
                <a:solidFill>
                  <a:srgbClr val="334155"/>
                </a:solidFill>
                <a:uFillTx/>
                <a:latin typeface="Inter"/>
                <a:ea typeface="Inter"/>
              </a:rPr>
              <a:t> Structured learning path.</a:t>
            </a:r>
            <a:endParaRPr b="0" lang="en-US" sz="113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6" name="Google Shape;431;p27"/>
          <p:cNvSpPr/>
          <p:nvPr/>
        </p:nvSpPr>
        <p:spPr>
          <a:xfrm>
            <a:off x="6448320" y="2910960"/>
            <a:ext cx="574308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1e40af"/>
                </a:solidFill>
                <a:uFillTx/>
                <a:latin typeface="Plus Jakarta Sans"/>
                <a:ea typeface="Plus Jakarta Sans"/>
              </a:rPr>
              <a:t>Engineering Purpose</a:t>
            </a:r>
            <a:endParaRPr b="0" lang="en-US" sz="13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7" name="Google Shape;432;p27"/>
          <p:cNvSpPr/>
          <p:nvPr/>
        </p:nvSpPr>
        <p:spPr>
          <a:xfrm>
            <a:off x="6448320" y="3244320"/>
            <a:ext cx="4914720" cy="76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2000"/>
              </a:lnSpc>
              <a:tabLst>
                <a:tab algn="l" pos="0"/>
              </a:tabLst>
            </a:pPr>
            <a:r>
              <a:rPr b="0" lang="en-US" sz="1130" strike="noStrike" u="none">
                <a:solidFill>
                  <a:srgbClr val="1e3a8a"/>
                </a:solidFill>
                <a:uFillTx/>
                <a:latin typeface="Inter"/>
                <a:ea typeface="Inter"/>
              </a:rPr>
              <a:t>• </a:t>
            </a:r>
            <a:r>
              <a:rPr b="0" lang="en-US" sz="1130" strike="noStrike" u="none">
                <a:solidFill>
                  <a:srgbClr val="1e3a8a"/>
                </a:solidFill>
                <a:uFillTx/>
                <a:latin typeface="Inter"/>
                <a:ea typeface="Inter"/>
              </a:rPr>
              <a:t>Enforces student-friendly tone</a:t>
            </a:r>
            <a:br>
              <a:rPr sz="1800"/>
            </a:br>
            <a:r>
              <a:rPr b="0" lang="en-US" sz="1130" strike="noStrike" u="none">
                <a:solidFill>
                  <a:srgbClr val="1e3a8a"/>
                </a:solidFill>
                <a:uFillTx/>
                <a:latin typeface="Inter"/>
                <a:ea typeface="Inter"/>
              </a:rPr>
              <a:t> • Eliminates unstructured output</a:t>
            </a:r>
            <a:br>
              <a:rPr sz="1800"/>
            </a:br>
            <a:r>
              <a:rPr b="0" lang="en-US" sz="1130" strike="noStrike" u="none">
                <a:solidFill>
                  <a:srgbClr val="1e3a8a"/>
                </a:solidFill>
                <a:uFillTx/>
                <a:latin typeface="Inter"/>
                <a:ea typeface="Inter"/>
              </a:rPr>
              <a:t> • Enforces strict option schema</a:t>
            </a:r>
            <a:br>
              <a:rPr sz="1800"/>
            </a:br>
            <a:r>
              <a:rPr b="0" lang="en-US" sz="1130" strike="noStrike" u="none">
                <a:solidFill>
                  <a:srgbClr val="1e3a8a"/>
                </a:solidFill>
                <a:uFillTx/>
                <a:latin typeface="Inter"/>
                <a:ea typeface="Inter"/>
              </a:rPr>
              <a:t> • Ensures deterministic responses</a:t>
            </a:r>
            <a:endParaRPr b="0" lang="en-US" sz="113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437;p28"/>
          <p:cNvSpPr/>
          <p:nvPr/>
        </p:nvSpPr>
        <p:spPr>
          <a:xfrm>
            <a:off x="685800" y="6000840"/>
            <a:ext cx="1082016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299" name="Google Shape;438;p28"/>
          <p:cNvSpPr/>
          <p:nvPr/>
        </p:nvSpPr>
        <p:spPr>
          <a:xfrm>
            <a:off x="7305840" y="2824920"/>
            <a:ext cx="4200120" cy="1533240"/>
          </a:xfrm>
          <a:prstGeom prst="roundRect">
            <a:avLst>
              <a:gd name="adj" fmla="val 7453"/>
            </a:avLst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300" name="Google Shape;439;p28"/>
          <p:cNvSpPr/>
          <p:nvPr/>
        </p:nvSpPr>
        <p:spPr>
          <a:xfrm>
            <a:off x="685800" y="6000840"/>
            <a:ext cx="1082016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pic>
        <p:nvPicPr>
          <p:cNvPr id="301" name="Google Shape;440;p28" descr="image.png"/>
          <p:cNvPicPr/>
          <p:nvPr/>
        </p:nvPicPr>
        <p:blipFill>
          <a:blip r:embed="rId1"/>
          <a:stretch/>
        </p:blipFill>
        <p:spPr>
          <a:xfrm>
            <a:off x="9196560" y="3063240"/>
            <a:ext cx="418680" cy="41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2" name="Google Shape;441;p28"/>
          <p:cNvSpPr/>
          <p:nvPr/>
        </p:nvSpPr>
        <p:spPr>
          <a:xfrm>
            <a:off x="685800" y="2682360"/>
            <a:ext cx="6276600" cy="181908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4a7db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graphicFrame>
        <p:nvGraphicFramePr>
          <p:cNvPr id="303" name="Google Shape;442;p28"/>
          <p:cNvGraphicFramePr/>
          <p:nvPr/>
        </p:nvGraphicFramePr>
        <p:xfrm>
          <a:off x="685800" y="2682360"/>
          <a:ext cx="6267240" cy="1818720"/>
        </p:xfrm>
        <a:graphic>
          <a:graphicData uri="http://schemas.openxmlformats.org/drawingml/2006/table">
            <a:tbl>
              <a:tblPr rtl="0" firstCol="0" lastCol="0" firstRow="0" lastRow="0" bandRow="0" bandCol="0"/>
              <a:tblGrid>
                <a:gridCol w="2622600"/>
                <a:gridCol w="2713680"/>
                <a:gridCol w="930960"/>
              </a:tblGrid>
              <a:tr h="363600"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50" strike="noStrike" u="none">
                          <a:solidFill>
                            <a:srgbClr val="475569"/>
                          </a:solidFill>
                          <a:uFillTx/>
                          <a:latin typeface="Inter"/>
                          <a:ea typeface="Inter"/>
                        </a:rPr>
                        <a:t>Test Area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63360" marR="63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50" strike="noStrike" u="none">
                          <a:solidFill>
                            <a:srgbClr val="475569"/>
                          </a:solidFill>
                          <a:uFillTx/>
                          <a:latin typeface="Inter"/>
                          <a:ea typeface="Inter"/>
                        </a:rPr>
                        <a:t>Expected Result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63360" marR="63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50" strike="noStrike" u="none">
                          <a:solidFill>
                            <a:srgbClr val="475569"/>
                          </a:solidFill>
                          <a:uFillTx/>
                          <a:latin typeface="Inter"/>
                          <a:ea typeface="Inter"/>
                        </a:rPr>
                        <a:t>Status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63360" marR="63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363600"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50" strike="noStrike" u="none">
                          <a:solidFill>
                            <a:srgbClr val="1e293b"/>
                          </a:solidFill>
                          <a:uFillTx/>
                          <a:latin typeface="Inter"/>
                          <a:ea typeface="Inter"/>
                        </a:rPr>
                        <a:t>Dashboard Loading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63360" marR="63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64748b"/>
                          </a:solidFill>
                          <a:uFillTx/>
                          <a:latin typeface="Inter"/>
                          <a:ea typeface="Inter"/>
                        </a:rPr>
                        <a:t>Loads UI components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63360" marR="63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50" strike="noStrike" u="none">
                          <a:solidFill>
                            <a:srgbClr val="16a34a"/>
                          </a:solidFill>
                          <a:uFillTx/>
                          <a:latin typeface="Inter"/>
                          <a:ea typeface="Inter"/>
                        </a:rPr>
                        <a:t>PASS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63360" marR="63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3600"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50" strike="noStrike" u="none">
                          <a:solidFill>
                            <a:srgbClr val="1e293b"/>
                          </a:solidFill>
                          <a:uFillTx/>
                          <a:latin typeface="Inter"/>
                          <a:ea typeface="Inter"/>
                        </a:rPr>
                        <a:t>AI Q&amp;A &amp; Explain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63360" marR="63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64748b"/>
                          </a:solidFill>
                          <a:uFillTx/>
                          <a:latin typeface="Inter"/>
                          <a:ea typeface="Inter"/>
                        </a:rPr>
                        <a:t>Generates clear explanation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63360" marR="63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50" strike="noStrike" u="none">
                          <a:solidFill>
                            <a:srgbClr val="16a34a"/>
                          </a:solidFill>
                          <a:uFillTx/>
                          <a:latin typeface="Inter"/>
                          <a:ea typeface="Inter"/>
                        </a:rPr>
                        <a:t>PASS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63360" marR="63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3600"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50" strike="noStrike" u="none">
                          <a:solidFill>
                            <a:srgbClr val="1e293b"/>
                          </a:solidFill>
                          <a:uFillTx/>
                          <a:latin typeface="Inter"/>
                          <a:ea typeface="Inter"/>
                        </a:rPr>
                        <a:t>Quiz Generation &amp; Scoring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63360" marR="63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64748b"/>
                          </a:solidFill>
                          <a:uFillTx/>
                          <a:latin typeface="Inter"/>
                          <a:ea typeface="Inter"/>
                        </a:rPr>
                        <a:t>3 questions with score check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63360" marR="63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50" strike="noStrike" u="none">
                          <a:solidFill>
                            <a:srgbClr val="16a34a"/>
                          </a:solidFill>
                          <a:uFillTx/>
                          <a:latin typeface="Inter"/>
                          <a:ea typeface="Inter"/>
                        </a:rPr>
                        <a:t>PASS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63360" marR="63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3600"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50" strike="noStrike" u="none">
                          <a:solidFill>
                            <a:srgbClr val="1e293b"/>
                          </a:solidFill>
                          <a:uFillTx/>
                          <a:latin typeface="Inter"/>
                          <a:ea typeface="Inter"/>
                        </a:rPr>
                        <a:t>Input &amp; Error Handling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63360" marR="63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64748b"/>
                          </a:solidFill>
                          <a:uFillTx/>
                          <a:latin typeface="Inter"/>
                          <a:ea typeface="Inter"/>
                        </a:rPr>
                        <a:t>Safe validation messages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63360" marR="63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50" strike="noStrike" u="none">
                          <a:solidFill>
                            <a:srgbClr val="16a34a"/>
                          </a:solidFill>
                          <a:uFillTx/>
                          <a:latin typeface="Inter"/>
                          <a:ea typeface="Inter"/>
                        </a:rPr>
                        <a:t>PASS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63360" marR="63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4" name="Google Shape;443;p28"/>
          <p:cNvSpPr/>
          <p:nvPr/>
        </p:nvSpPr>
        <p:spPr>
          <a:xfrm>
            <a:off x="685800" y="533520"/>
            <a:ext cx="1150596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16a34a"/>
                </a:solidFill>
                <a:uFillTx/>
                <a:latin typeface="Inter"/>
                <a:ea typeface="Inter"/>
              </a:rPr>
              <a:t>QUALITY ASSURANCE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5" name="Google Shape;444;p28"/>
          <p:cNvSpPr/>
          <p:nvPr/>
        </p:nvSpPr>
        <p:spPr>
          <a:xfrm>
            <a:off x="685800" y="771480"/>
            <a:ext cx="1150596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1" lang="en-US" sz="2700" strike="noStrike" u="none">
                <a:solidFill>
                  <a:srgbClr val="0f172a"/>
                </a:solidFill>
                <a:uFillTx/>
                <a:latin typeface="Plus Jakarta Sans"/>
                <a:ea typeface="Plus Jakarta Sans"/>
              </a:rPr>
              <a:t>Testing &amp; Results</a:t>
            </a:r>
            <a:endParaRPr b="0" lang="en-US" sz="2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6" name="Google Shape;445;p28"/>
          <p:cNvSpPr/>
          <p:nvPr/>
        </p:nvSpPr>
        <p:spPr>
          <a:xfrm>
            <a:off x="685800" y="6162840"/>
            <a:ext cx="220212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4748b"/>
                </a:solidFill>
                <a:uFillTx/>
                <a:latin typeface="Inter"/>
                <a:ea typeface="Inter"/>
              </a:rPr>
              <a:t>EduGenie Architecture Deck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7" name="Google Shape;446;p28"/>
          <p:cNvSpPr/>
          <p:nvPr/>
        </p:nvSpPr>
        <p:spPr>
          <a:xfrm>
            <a:off x="11020320" y="6162840"/>
            <a:ext cx="77112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4748b"/>
                </a:solidFill>
                <a:uFillTx/>
                <a:latin typeface="Inter"/>
                <a:ea typeface="Inter"/>
              </a:rPr>
              <a:t>Slide 16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8" name="Google Shape;447;p28"/>
          <p:cNvSpPr/>
          <p:nvPr/>
        </p:nvSpPr>
        <p:spPr>
          <a:xfrm>
            <a:off x="6962040" y="3596760"/>
            <a:ext cx="4887720" cy="25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650" strike="noStrike" u="none">
                <a:solidFill>
                  <a:srgbClr val="0f172a"/>
                </a:solidFill>
                <a:uFillTx/>
                <a:latin typeface="Plus Jakarta Sans"/>
                <a:ea typeface="Plus Jakarta Sans"/>
              </a:rPr>
              <a:t>100% Pass Rate</a:t>
            </a:r>
            <a:endParaRPr b="0" lang="en-US" sz="16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9" name="Google Shape;448;p28"/>
          <p:cNvSpPr/>
          <p:nvPr/>
        </p:nvSpPr>
        <p:spPr>
          <a:xfrm>
            <a:off x="7078320" y="3939480"/>
            <a:ext cx="4654800" cy="17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130" strike="noStrike" u="none">
                <a:solidFill>
                  <a:srgbClr val="64748b"/>
                </a:solidFill>
                <a:uFillTx/>
                <a:latin typeface="Inter"/>
                <a:ea typeface="Inter"/>
              </a:rPr>
              <a:t>All test cases verified across responsive viewports.</a:t>
            </a:r>
            <a:endParaRPr b="0" lang="en-US" sz="113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453;p29"/>
          <p:cNvSpPr/>
          <p:nvPr/>
        </p:nvSpPr>
        <p:spPr>
          <a:xfrm>
            <a:off x="685800" y="6000840"/>
            <a:ext cx="1082016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311" name="Google Shape;454;p29"/>
          <p:cNvSpPr/>
          <p:nvPr/>
        </p:nvSpPr>
        <p:spPr>
          <a:xfrm>
            <a:off x="685800" y="2477520"/>
            <a:ext cx="5238360" cy="2228400"/>
          </a:xfrm>
          <a:prstGeom prst="roundRect">
            <a:avLst>
              <a:gd name="adj" fmla="val 5128"/>
            </a:avLst>
          </a:prstGeom>
          <a:solidFill>
            <a:srgbClr val="f0fdf4"/>
          </a:solidFill>
          <a:ln w="9525">
            <a:solidFill>
              <a:srgbClr val="dcfce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312" name="Google Shape;455;p29"/>
          <p:cNvSpPr/>
          <p:nvPr/>
        </p:nvSpPr>
        <p:spPr>
          <a:xfrm>
            <a:off x="6267600" y="2477520"/>
            <a:ext cx="5238360" cy="2228400"/>
          </a:xfrm>
          <a:prstGeom prst="roundRect">
            <a:avLst>
              <a:gd name="adj" fmla="val 5128"/>
            </a:avLst>
          </a:prstGeom>
          <a:solidFill>
            <a:srgbClr val="f8fafc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313" name="Google Shape;456;p29"/>
          <p:cNvSpPr/>
          <p:nvPr/>
        </p:nvSpPr>
        <p:spPr>
          <a:xfrm>
            <a:off x="685800" y="6000840"/>
            <a:ext cx="1082016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314" name="Google Shape;457;p29"/>
          <p:cNvSpPr/>
          <p:nvPr/>
        </p:nvSpPr>
        <p:spPr>
          <a:xfrm>
            <a:off x="685800" y="533520"/>
            <a:ext cx="1150596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2563eb"/>
                </a:solidFill>
                <a:uFillTx/>
                <a:latin typeface="Inter"/>
                <a:ea typeface="Inter"/>
              </a:rPr>
              <a:t>ASSESSMENT &amp; ROADMAP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5" name="Google Shape;458;p29"/>
          <p:cNvSpPr/>
          <p:nvPr/>
        </p:nvSpPr>
        <p:spPr>
          <a:xfrm>
            <a:off x="685800" y="771480"/>
            <a:ext cx="1150596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1" lang="en-US" sz="2700" strike="noStrike" u="none">
                <a:solidFill>
                  <a:srgbClr val="0f172a"/>
                </a:solidFill>
                <a:uFillTx/>
                <a:latin typeface="Plus Jakarta Sans"/>
                <a:ea typeface="Plus Jakarta Sans"/>
              </a:rPr>
              <a:t>Advantages &amp; Future Scope</a:t>
            </a:r>
            <a:endParaRPr b="0" lang="en-US" sz="2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6" name="Google Shape;459;p29"/>
          <p:cNvSpPr/>
          <p:nvPr/>
        </p:nvSpPr>
        <p:spPr>
          <a:xfrm>
            <a:off x="685800" y="6162840"/>
            <a:ext cx="220212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4748b"/>
                </a:solidFill>
                <a:uFillTx/>
                <a:latin typeface="Inter"/>
                <a:ea typeface="Inter"/>
              </a:rPr>
              <a:t>EduGenie Architecture Deck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7" name="Google Shape;460;p29"/>
          <p:cNvSpPr/>
          <p:nvPr/>
        </p:nvSpPr>
        <p:spPr>
          <a:xfrm>
            <a:off x="11030040" y="6162840"/>
            <a:ext cx="76176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4748b"/>
                </a:solidFill>
                <a:uFillTx/>
                <a:latin typeface="Inter"/>
                <a:ea typeface="Inter"/>
              </a:rPr>
              <a:t>Slide 17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8" name="Google Shape;461;p29"/>
          <p:cNvSpPr/>
          <p:nvPr/>
        </p:nvSpPr>
        <p:spPr>
          <a:xfrm>
            <a:off x="961920" y="2753640"/>
            <a:ext cx="615024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66534"/>
                </a:solidFill>
                <a:uFillTx/>
                <a:latin typeface="Plus Jakarta Sans"/>
                <a:ea typeface="Plus Jakarta Sans"/>
              </a:rPr>
              <a:t>Current Advantages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9" name="Google Shape;462;p29"/>
          <p:cNvSpPr/>
          <p:nvPr/>
        </p:nvSpPr>
        <p:spPr>
          <a:xfrm>
            <a:off x="961920" y="3144240"/>
            <a:ext cx="478116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2000"/>
              </a:lnSpc>
              <a:tabLst>
                <a:tab algn="l" pos="0"/>
              </a:tabLst>
            </a:pPr>
            <a:r>
              <a:rPr b="0" lang="en-US" sz="1130" strike="noStrike" u="none">
                <a:solidFill>
                  <a:srgbClr val="14532d"/>
                </a:solidFill>
                <a:uFillTx/>
                <a:latin typeface="Inter"/>
                <a:ea typeface="Inter"/>
              </a:rPr>
              <a:t>• </a:t>
            </a:r>
            <a:r>
              <a:rPr b="0" lang="en-US" sz="1130" strike="noStrike" u="none">
                <a:solidFill>
                  <a:srgbClr val="14532d"/>
                </a:solidFill>
                <a:uFillTx/>
                <a:latin typeface="Inter"/>
                <a:ea typeface="Inter"/>
              </a:rPr>
              <a:t>Centralized AI learning tools</a:t>
            </a:r>
            <a:br>
              <a:rPr sz="1800"/>
            </a:br>
            <a:r>
              <a:rPr b="0" lang="en-US" sz="1130" strike="noStrike" u="none">
                <a:solidFill>
                  <a:srgbClr val="14532d"/>
                </a:solidFill>
                <a:uFillTx/>
                <a:latin typeface="Inter"/>
                <a:ea typeface="Inter"/>
              </a:rPr>
              <a:t> • Fast doubt resolution</a:t>
            </a:r>
            <a:br>
              <a:rPr sz="1800"/>
            </a:br>
            <a:r>
              <a:rPr b="0" lang="en-US" sz="1130" strike="noStrike" u="none">
                <a:solidFill>
                  <a:srgbClr val="14532d"/>
                </a:solidFill>
                <a:uFillTx/>
                <a:latin typeface="Inter"/>
                <a:ea typeface="Inter"/>
              </a:rPr>
              <a:t> • Interactive self-assessment quizzes</a:t>
            </a:r>
            <a:br>
              <a:rPr sz="1800"/>
            </a:br>
            <a:r>
              <a:rPr b="0" lang="en-US" sz="1130" strike="noStrike" u="none">
                <a:solidFill>
                  <a:srgbClr val="14532d"/>
                </a:solidFill>
                <a:uFillTx/>
                <a:latin typeface="Inter"/>
                <a:ea typeface="Inter"/>
              </a:rPr>
              <a:t> • Rapid study material summarization</a:t>
            </a:r>
            <a:br>
              <a:rPr sz="1800"/>
            </a:br>
            <a:r>
              <a:rPr b="0" lang="en-US" sz="1130" strike="noStrike" u="none">
                <a:solidFill>
                  <a:srgbClr val="14532d"/>
                </a:solidFill>
                <a:uFillTx/>
                <a:latin typeface="Inter"/>
                <a:ea typeface="Inter"/>
              </a:rPr>
              <a:t> • Structured learning path recommendations</a:t>
            </a:r>
            <a:endParaRPr b="0" lang="en-US" sz="113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0" name="Google Shape;463;p29"/>
          <p:cNvSpPr/>
          <p:nvPr/>
        </p:nvSpPr>
        <p:spPr>
          <a:xfrm>
            <a:off x="6543720" y="2753640"/>
            <a:ext cx="564804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e293b"/>
                </a:solidFill>
                <a:uFillTx/>
                <a:latin typeface="Plus Jakarta Sans"/>
                <a:ea typeface="Plus Jakarta Sans"/>
              </a:rPr>
              <a:t>Proposed Future Scope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1" name="Google Shape;464;p29"/>
          <p:cNvSpPr/>
          <p:nvPr/>
        </p:nvSpPr>
        <p:spPr>
          <a:xfrm>
            <a:off x="6543720" y="3144240"/>
            <a:ext cx="478116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2000"/>
              </a:lnSpc>
              <a:tabLst>
                <a:tab algn="l" pos="0"/>
              </a:tabLst>
            </a:pPr>
            <a:r>
              <a:rPr b="0" lang="en-US" sz="1130" strike="noStrike" u="none">
                <a:solidFill>
                  <a:srgbClr val="475569"/>
                </a:solidFill>
                <a:uFillTx/>
                <a:latin typeface="Inter"/>
                <a:ea typeface="Inter"/>
              </a:rPr>
              <a:t>• </a:t>
            </a:r>
            <a:r>
              <a:rPr b="0" lang="en-US" sz="1130" strike="noStrike" u="none">
                <a:solidFill>
                  <a:srgbClr val="475569"/>
                </a:solidFill>
                <a:uFillTx/>
                <a:latin typeface="Inter"/>
                <a:ea typeface="Inter"/>
              </a:rPr>
              <a:t>Student accounts &amp; progress tracking</a:t>
            </a:r>
            <a:br>
              <a:rPr sz="1800"/>
            </a:br>
            <a:r>
              <a:rPr b="0" lang="en-US" sz="1130" strike="noStrike" u="none">
                <a:solidFill>
                  <a:srgbClr val="475569"/>
                </a:solidFill>
                <a:uFillTx/>
                <a:latin typeface="Inter"/>
                <a:ea typeface="Inter"/>
              </a:rPr>
              <a:t> • PDF study &amp; RAG document querying</a:t>
            </a:r>
            <a:br>
              <a:rPr sz="1800"/>
            </a:br>
            <a:r>
              <a:rPr b="0" lang="en-US" sz="1130" strike="noStrike" u="none">
                <a:solidFill>
                  <a:srgbClr val="475569"/>
                </a:solidFill>
                <a:uFillTx/>
                <a:latin typeface="Inter"/>
                <a:ea typeface="Inter"/>
              </a:rPr>
              <a:t> • Voice-based learning interaction</a:t>
            </a:r>
            <a:br>
              <a:rPr sz="1800"/>
            </a:br>
            <a:r>
              <a:rPr b="0" lang="en-US" sz="1130" strike="noStrike" u="none">
                <a:solidFill>
                  <a:srgbClr val="475569"/>
                </a:solidFill>
                <a:uFillTx/>
                <a:latin typeface="Inter"/>
                <a:ea typeface="Inter"/>
              </a:rPr>
              <a:t> • Multilingual regional support</a:t>
            </a:r>
            <a:br>
              <a:rPr sz="1800"/>
            </a:br>
            <a:r>
              <a:rPr b="0" lang="en-US" sz="1130" strike="noStrike" u="none">
                <a:solidFill>
                  <a:srgbClr val="475569"/>
                </a:solidFill>
                <a:uFillTx/>
                <a:latin typeface="Inter"/>
                <a:ea typeface="Inter"/>
              </a:rPr>
              <a:t> • Adaptive quizzes &amp; teacher dashboard</a:t>
            </a:r>
            <a:endParaRPr b="0" lang="en-US" sz="113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469;p30"/>
          <p:cNvSpPr/>
          <p:nvPr/>
        </p:nvSpPr>
        <p:spPr>
          <a:xfrm>
            <a:off x="762120" y="5886360"/>
            <a:ext cx="1066752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323" name="Google Shape;470;p30"/>
          <p:cNvSpPr/>
          <p:nvPr/>
        </p:nvSpPr>
        <p:spPr>
          <a:xfrm>
            <a:off x="5829480" y="3705120"/>
            <a:ext cx="533160" cy="378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3320" bIns="1332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324" name="Google Shape;471;p30"/>
          <p:cNvSpPr/>
          <p:nvPr/>
        </p:nvSpPr>
        <p:spPr>
          <a:xfrm>
            <a:off x="762120" y="5886360"/>
            <a:ext cx="10667520" cy="900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pic>
        <p:nvPicPr>
          <p:cNvPr id="325" name="Google Shape;472;p30" descr="image.png"/>
          <p:cNvPicPr/>
          <p:nvPr/>
        </p:nvPicPr>
        <p:blipFill>
          <a:blip r:embed="rId1"/>
          <a:stretch/>
        </p:blipFill>
        <p:spPr>
          <a:xfrm>
            <a:off x="5867280" y="609480"/>
            <a:ext cx="456840" cy="456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6" name="Google Shape;473;p30" descr="image.png"/>
          <p:cNvPicPr/>
          <p:nvPr/>
        </p:nvPicPr>
        <p:blipFill>
          <a:blip r:embed="rId2"/>
          <a:stretch/>
        </p:blipFill>
        <p:spPr>
          <a:xfrm>
            <a:off x="5952960" y="723960"/>
            <a:ext cx="285480" cy="22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7" name="Google Shape;474;p30"/>
          <p:cNvSpPr/>
          <p:nvPr/>
        </p:nvSpPr>
        <p:spPr>
          <a:xfrm>
            <a:off x="-285840" y="1924200"/>
            <a:ext cx="12763080" cy="48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3150" strike="noStrike" u="none">
                <a:solidFill>
                  <a:srgbClr val="f8fafc"/>
                </a:solidFill>
                <a:uFillTx/>
                <a:latin typeface="Plus Jakarta Sans"/>
                <a:ea typeface="Plus Jakarta Sans"/>
              </a:rPr>
              <a:t>Practical Generative AI in Education</a:t>
            </a:r>
            <a:endParaRPr b="0" lang="en-US" sz="315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28" name="Google Shape;475;p30"/>
          <p:cNvSpPr/>
          <p:nvPr/>
        </p:nvSpPr>
        <p:spPr>
          <a:xfrm>
            <a:off x="1571760" y="2581200"/>
            <a:ext cx="9048240" cy="68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5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94a3b8"/>
                </a:solidFill>
                <a:uFillTx/>
                <a:latin typeface="Inter"/>
                <a:ea typeface="Inter"/>
              </a:rPr>
              <a:t>EduGenie unifies Question Answering, Concept Explanation, Quiz Generation, Summarization, and Learning Recommendations into a responsive, student-centered assistant.</a:t>
            </a:r>
            <a:endParaRPr b="0" lang="en-US" sz="15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29" name="Google Shape;476;p30"/>
          <p:cNvSpPr/>
          <p:nvPr/>
        </p:nvSpPr>
        <p:spPr>
          <a:xfrm>
            <a:off x="-285840" y="4086360"/>
            <a:ext cx="12763080" cy="59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3900" strike="noStrike" u="none">
                <a:solidFill>
                  <a:srgbClr val="38bdf8"/>
                </a:solidFill>
                <a:uFillTx/>
                <a:latin typeface="Plus Jakarta Sans"/>
                <a:ea typeface="Plus Jakarta Sans"/>
              </a:rPr>
              <a:t>THANK YOU</a:t>
            </a:r>
            <a:endParaRPr b="0" lang="en-US" sz="39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30" name="Google Shape;477;p30"/>
          <p:cNvSpPr/>
          <p:nvPr/>
        </p:nvSpPr>
        <p:spPr>
          <a:xfrm>
            <a:off x="-285840" y="4829040"/>
            <a:ext cx="1276308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64748b"/>
                </a:solidFill>
                <a:uFillTx/>
                <a:latin typeface="Inter"/>
                <a:ea typeface="Inter"/>
              </a:rPr>
              <a:t>Questions &amp; Discussion</a:t>
            </a:r>
            <a:endParaRPr b="0" lang="en-US" sz="135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31" name="Google Shape;478;p30"/>
          <p:cNvSpPr/>
          <p:nvPr/>
        </p:nvSpPr>
        <p:spPr>
          <a:xfrm>
            <a:off x="576360" y="6086520"/>
            <a:ext cx="185688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4748b"/>
                </a:solidFill>
                <a:uFillTx/>
                <a:latin typeface="Inter"/>
                <a:ea typeface="Inter"/>
              </a:rPr>
              <a:t>Presented by Rajashankari S</a:t>
            </a:r>
            <a:endParaRPr b="0" lang="en-US" sz="105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32" name="Google Shape;479;p30"/>
          <p:cNvSpPr/>
          <p:nvPr/>
        </p:nvSpPr>
        <p:spPr>
          <a:xfrm>
            <a:off x="8300880" y="6086520"/>
            <a:ext cx="347616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4748b"/>
                </a:solidFill>
                <a:uFillTx/>
                <a:latin typeface="Inter"/>
                <a:ea typeface="Inter"/>
              </a:rPr>
              <a:t>B.Sc. Computer Science </a:t>
            </a:r>
            <a:endParaRPr b="0" lang="en-US" sz="105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LibreOfficeDev/24.8.7.2.0$Android_AARCH64 LibreOffice_project/</Application>
  <AppVersion>15.0000</AppVersion>
  <Words>1023</Words>
  <Paragraphs>209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admin</dc:creator>
  <dc:description/>
  <dc:language>en-US</dc:language>
  <cp:lastModifiedBy/>
  <dcterms:modified xsi:type="dcterms:W3CDTF">2026-09-29T22:44:10Z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18</vt:i4>
  </property>
  <property fmtid="{D5CDD505-2E9C-101B-9397-08002B2CF9AE}" pid="3" name="PresentationFormat">
    <vt:lpwstr>Widescreen</vt:lpwstr>
  </property>
  <property fmtid="{D5CDD505-2E9C-101B-9397-08002B2CF9AE}" pid="4" name="Slides">
    <vt:i4>18</vt:i4>
  </property>
</Properties>
</file>